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 (out of 100)</c:v>
                </c:pt>
              </c:strCache>
            </c:strRef>
          </c:tx>
          <c:spPr>
            <a:solidFill>
              <a:srgbClr val="C8322B"/>
            </a:solidFill>
            <a:effectLst/>
          </c:spPr>
          <c:invertIfNegative val="0"/>
          <c:dLbls>
            <c:numFmt formatCode="#,##0" sourceLinked="0"/>
            <c:txPr>
              <a:bodyPr/>
              <a:lstStyle/>
              <a:p>
                <a:pPr>
                  <a:defRPr b="0" i="0" strike="noStrike" sz="1200" u="none">
                    <a:solidFill>
                      <a:srgbClr val="F7F1E8"/>
                    </a:solidFill>
                    <a:latin typeface="+mn-lt"/>
                  </a:defRPr>
                </a:pPr>
              </a:p>
            </c:txPr>
            <c:showLegendKey val="0"/>
            <c:showVal val="1"/>
            <c:showCatName val="0"/>
            <c:showSerName val="0"/>
            <c:showPercent val="0"/>
            <c:showBubbleSize val="0"/>
            <c:showLeaderLines val="0"/>
          </c:dLbls>
          <c:cat>
            <c:multiLvlStrRef>
              <c:f>Sheet1!$A$2:$A$5</c:f>
              <c:multiLvlStrCache>
                <c:ptCount val="4"/>
                <c:lvl>
                  <c:pt idx="0">
                    <c:v>Listening</c:v>
                  </c:pt>
                  <c:pt idx="1">
                    <c:v>Reading</c:v>
                  </c:pt>
                  <c:pt idx="2">
                    <c:v>Writing</c:v>
                  </c:pt>
                  <c:pt idx="3">
                    <c:v>Speaking*</c:v>
                  </c:pt>
                </c:lvl>
              </c:multiLvlStrCache>
            </c:multiLvlStrRef>
          </c:cat>
          <c:val>
            <c:numRef>
              <c:f>Sheet1!$B$2:$B$5</c:f>
              <c:numCache>
                <c:formatCode>General</c:formatCode>
                <c:ptCount val="4"/>
                <c:pt idx="0">
                  <c:v>95</c:v>
                </c:pt>
                <c:pt idx="1">
                  <c:v>94</c:v>
                </c:pt>
                <c:pt idx="2">
                  <c:v>61</c:v>
                </c:pt>
                <c:pt idx="3">
                  <c:v>70</c:v>
                </c:pt>
              </c:numCache>
            </c:numRef>
          </c:val>
        </c:ser>
        <c:dLbls>
          <c:numFmt formatCode="#,##0" sourceLinked="0"/>
          <c:txPr>
            <a:bodyPr/>
            <a:lstStyle/>
            <a:p>
              <a:pPr>
                <a:defRPr b="0" i="0" strike="noStrike" sz="1200" u="none">
                  <a:solidFill>
                    <a:srgbClr val="F7F1E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F7F1E8"/>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committee. I am Jubair Md Ariful Islam, Chinese name 王子, master's candidate in International Business, class GMIB2501, from Bangladesh. The calligraphy in my hands reads 自强不息, 'strive without rest', the spirit of my year. I will cover three things: my academic achievements, my other accomplishments, and my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slide: academically I moved from Category B to Category A and passed HSK 3 within a year. Beyond class I earned a provincial calligraphy award and completed original research. In activities I hosted, volunteered and received a Service Award. The next slides show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my first year I was awarded the Category B scholarship. After the annual review, the University awarded me Category A. The reasons: the highest marks in my major in the department, helping teachers, volunteering in university programs, and hosting Chinese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achieved HSK Level 3 within a year, scoring 250 out of 300 against a pass mark of 180. Listening 95 and Reading 94 are my strongest sections; Writing at 61 is where I am still improving. Speaking was taken at Elementary level with 70, pass mark 60. Chinese lets me host, volunteer and connect with classmates.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coursework I contributed to a completed, original research paper on Chinese mining foreign direct investment in Zambia, 2000 to 2024. It is currently under peer review at International Studies of Economics. It is not yet published, so I describe the topic and status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Jiangsu Province's 2025 'Read Jiangsu' creative contest for international students, my calligraphy work 'Liu Zi Du Su' was honored as Excellent Calligraphy Work, issued by the Jiangsu Higher Education Association's committee on international student education. I keep practising, including the calligraphy class at SIE. The piece in my hands reads 自强不息.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hosted the Mid-Autumn Festival at Huai'an University on 29 September 2025, and other Chinese events as well. Standing on stage with a microphone helped me practise Chinese and build confidence. At the New Year celebration on 29 December I wrote my own 福, the character for fortune.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2026 new-student admission day I assisted the School of International Education. I helped teachers, made the process easier and more comfortable for new students, and guided them through each step. For assisting SIE I received a Service Award.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volunteered with the English language club and helped Chinese students improve their spoken English in an easier way, and it worked. I also helped international students understand Chinese culture. Language and culture are how I give back to the community that hosts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tour of the year, from class monitor and the Mid-Autumn Festival to the HSK 3 result and the 2026 admission day: a Chinese chess class, a high-speed rail seminar, the English language club, the Zhou Enlai Memorial Hall tour, the provincial calligraphy award, the Huai'an Marathon and the calligraphy class. I was also elected Vice President of the Student Council Academic Department in November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 am a scholar, an artist, and a host and helper. I respectfully ask the committee to consider my Category A scholarship. I will keep striving without rest. Thank you, 谢谢.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jp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10F"/>
        </a:solidFill>
      </p:bgPr>
    </p:bg>
    <p:spTree>
      <p:nvGrpSpPr>
        <p:cNvPr id="1" name=""/>
        <p:cNvGrpSpPr/>
        <p:nvPr/>
      </p:nvGrpSpPr>
      <p:grpSpPr>
        <a:xfrm>
          <a:off x="0" y="0"/>
          <a:ext cx="0" cy="0"/>
          <a:chOff x="0" y="0"/>
          <a:chExt cx="0" cy="0"/>
        </a:xfrm>
      </p:grpSpPr>
      <p:pic>
        <p:nvPicPr>
          <p:cNvPr id="2" name="Image 0" descr="Jubair holding his calligraphy 自强不息">    </p:cNvPr>
          <p:cNvPicPr>
            <a:picLocks noChangeAspect="1"/>
          </p:cNvPicPr>
          <p:nvPr/>
        </p:nvPicPr>
        <p:blipFill>
          <a:blip r:embed="rId1"/>
          <a:stretch>
            <a:fillRect/>
          </a:stretch>
        </p:blipFill>
        <p:spPr>
          <a:xfrm>
            <a:off x="7226503" y="0"/>
            <a:ext cx="4965192" cy="6858000"/>
          </a:xfrm>
          <a:prstGeom prst="rect">
            <a:avLst/>
          </a:prstGeom>
        </p:spPr>
      </p:pic>
      <p:sp>
        <p:nvSpPr>
          <p:cNvPr id="3" name="Seal"/>
          <p:cNvSpPr/>
          <p:nvPr/>
        </p:nvSpPr>
        <p:spPr>
          <a:xfrm>
            <a:off x="548640" y="502920"/>
            <a:ext cx="731520" cy="731520"/>
          </a:xfrm>
          <a:prstGeom prst="roundRect">
            <a:avLst>
              <a:gd name="adj" fmla="val 7500"/>
            </a:avLst>
          </a:prstGeom>
          <a:solidFill>
            <a:srgbClr val="C8322B"/>
          </a:solidFill>
          <a:ln/>
        </p:spPr>
      </p:sp>
      <p:sp>
        <p:nvSpPr>
          <p:cNvPr id="4" name="Text 1"/>
          <p:cNvSpPr txBox="1"/>
          <p:nvPr/>
        </p:nvSpPr>
        <p:spPr>
          <a:xfrm>
            <a:off x="548640" y="502920"/>
            <a:ext cx="731520" cy="731520"/>
          </a:xfrm>
          <a:prstGeom prst="rect">
            <a:avLst/>
          </a:prstGeom>
          <a:noFill/>
          <a:ln/>
        </p:spPr>
        <p:txBody>
          <a:bodyPr wrap="square" lIns="0" tIns="0" rIns="0" bIns="0" rtlCol="0" anchor="ctr"/>
          <a:lstStyle/>
          <a:p>
            <a:pPr algn="ctr" indent="0" marL="0">
              <a:buNone/>
            </a:pPr>
            <a:r>
              <a:rPr lang="en-US" sz="3040" b="1" dirty="0">
                <a:solidFill>
                  <a:srgbClr val="FFFFFF"/>
                </a:solidFill>
                <a:latin typeface="Microsoft YaHei" pitchFamily="34" charset="0"/>
                <a:ea typeface="Microsoft YaHei" pitchFamily="34" charset="-122"/>
                <a:cs typeface="Microsoft YaHei" pitchFamily="34" charset="-120"/>
              </a:rPr>
              <a:t>王</a:t>
            </a:r>
            <a:endParaRPr lang="en-US" sz="3040" dirty="0"/>
          </a:p>
        </p:txBody>
      </p:sp>
      <p:sp>
        <p:nvSpPr>
          <p:cNvPr id="5" name="Text 2"/>
          <p:cNvSpPr txBox="1"/>
          <p:nvPr/>
        </p:nvSpPr>
        <p:spPr>
          <a:xfrm>
            <a:off x="1508760" y="502920"/>
            <a:ext cx="5486400" cy="731520"/>
          </a:xfrm>
          <a:prstGeom prst="rect">
            <a:avLst/>
          </a:prstGeom>
          <a:noFill/>
          <a:ln/>
        </p:spPr>
        <p:txBody>
          <a:bodyPr wrap="square" lIns="0" tIns="0" rIns="0" bIns="0" rtlCol="0" anchor="ctr"/>
          <a:lstStyle/>
          <a:p>
            <a:pPr indent="0" marL="0">
              <a:buNone/>
            </a:pPr>
            <a:r>
              <a:rPr lang="en-US" sz="1200" b="1" spc="300" kern="0" dirty="0">
                <a:solidFill>
                  <a:srgbClr val="E0B25A"/>
                </a:solidFill>
                <a:latin typeface="Calibri" pitchFamily="34" charset="0"/>
                <a:ea typeface="Calibri" pitchFamily="34" charset="-122"/>
                <a:cs typeface="Calibri" pitchFamily="34" charset="-120"/>
              </a:rPr>
              <a:t>JIANGSU SCHOLARSHIP  ·  CATEGORY A DEFENSE</a:t>
            </a:r>
            <a:endParaRPr lang="en-US" sz="1200" dirty="0"/>
          </a:p>
        </p:txBody>
      </p:sp>
      <p:sp>
        <p:nvSpPr>
          <p:cNvPr id="6" name="Text 3"/>
          <p:cNvSpPr txBox="1"/>
          <p:nvPr/>
        </p:nvSpPr>
        <p:spPr>
          <a:xfrm>
            <a:off x="548640" y="1600200"/>
            <a:ext cx="6583680" cy="1463040"/>
          </a:xfrm>
          <a:prstGeom prst="rect">
            <a:avLst/>
          </a:prstGeom>
          <a:noFill/>
          <a:ln/>
        </p:spPr>
        <p:txBody>
          <a:bodyPr wrap="square" lIns="0" tIns="0" rIns="0" bIns="0" rtlCol="0" anchor="ctr"/>
          <a:lstStyle/>
          <a:p>
            <a:pPr indent="0" marL="0">
              <a:buNone/>
            </a:pPr>
            <a:r>
              <a:rPr lang="en-US" sz="8800" b="1" dirty="0">
                <a:solidFill>
                  <a:srgbClr val="E0B25A"/>
                </a:solidFill>
                <a:latin typeface="Microsoft YaHei" pitchFamily="34" charset="0"/>
                <a:ea typeface="Microsoft YaHei" pitchFamily="34" charset="-122"/>
                <a:cs typeface="Microsoft YaHei" pitchFamily="34" charset="-120"/>
              </a:rPr>
              <a:t>自强不息</a:t>
            </a:r>
            <a:endParaRPr lang="en-US" sz="8800" dirty="0"/>
          </a:p>
        </p:txBody>
      </p:sp>
      <p:sp>
        <p:nvSpPr>
          <p:cNvPr id="7" name="Text 4"/>
          <p:cNvSpPr txBox="1"/>
          <p:nvPr/>
        </p:nvSpPr>
        <p:spPr>
          <a:xfrm>
            <a:off x="548640" y="3063240"/>
            <a:ext cx="6583680" cy="822960"/>
          </a:xfrm>
          <a:prstGeom prst="rect">
            <a:avLst/>
          </a:prstGeom>
          <a:noFill/>
          <a:ln/>
        </p:spPr>
        <p:txBody>
          <a:bodyPr wrap="square" lIns="0" tIns="0" rIns="0" bIns="0" rtlCol="0" anchor="ctr"/>
          <a:lstStyle/>
          <a:p>
            <a:pPr indent="0" marL="0">
              <a:buNone/>
            </a:pPr>
            <a:r>
              <a:rPr lang="en-US" sz="4600" b="1" dirty="0">
                <a:solidFill>
                  <a:srgbClr val="F7F1E8"/>
                </a:solidFill>
                <a:latin typeface="Cambria" pitchFamily="34" charset="0"/>
                <a:ea typeface="Cambria" pitchFamily="34" charset="-122"/>
                <a:cs typeface="Cambria" pitchFamily="34" charset="-120"/>
              </a:rPr>
              <a:t>Strive Without Rest</a:t>
            </a:r>
            <a:endParaRPr lang="en-US" sz="4600" dirty="0"/>
          </a:p>
        </p:txBody>
      </p:sp>
      <p:sp>
        <p:nvSpPr>
          <p:cNvPr id="8" name="Text 5"/>
          <p:cNvSpPr txBox="1"/>
          <p:nvPr/>
        </p:nvSpPr>
        <p:spPr>
          <a:xfrm>
            <a:off x="548640" y="3931920"/>
            <a:ext cx="6309360" cy="731520"/>
          </a:xfrm>
          <a:prstGeom prst="rect">
            <a:avLst/>
          </a:prstGeom>
          <a:noFill/>
          <a:ln/>
        </p:spPr>
        <p:txBody>
          <a:bodyPr wrap="square" lIns="0" tIns="0" rIns="0" bIns="0" rtlCol="0" anchor="t"/>
          <a:lstStyle/>
          <a:p>
            <a:pPr indent="0" marL="0">
              <a:buNone/>
            </a:pPr>
            <a:r>
              <a:rPr lang="en-US" sz="1800" i="1" dirty="0">
                <a:solidFill>
                  <a:srgbClr val="B9AEA0"/>
                </a:solidFill>
                <a:latin typeface="Calibri" pitchFamily="34" charset="0"/>
                <a:ea typeface="Calibri" pitchFamily="34" charset="-122"/>
                <a:cs typeface="Calibri" pitchFamily="34" charset="-120"/>
              </a:rPr>
              <a:t>Ink, voice and service: a Bangladeshi scholar's year at Huai'an University</a:t>
            </a:r>
            <a:endParaRPr lang="en-US" sz="1800" dirty="0"/>
          </a:p>
        </p:txBody>
      </p:sp>
      <p:sp>
        <p:nvSpPr>
          <p:cNvPr id="9" name="Text 6"/>
          <p:cNvSpPr txBox="1"/>
          <p:nvPr/>
        </p:nvSpPr>
        <p:spPr>
          <a:xfrm>
            <a:off x="548640" y="4937760"/>
            <a:ext cx="6400800" cy="1280160"/>
          </a:xfrm>
          <a:prstGeom prst="rect">
            <a:avLst/>
          </a:prstGeom>
          <a:noFill/>
          <a:ln/>
        </p:spPr>
        <p:txBody>
          <a:bodyPr wrap="square" lIns="0" tIns="0" rIns="0" bIns="0" rtlCol="0" anchor="t"/>
          <a:lstStyle/>
          <a:p>
            <a:pPr indent="0" marL="0">
              <a:buNone/>
            </a:pPr>
            <a:r>
              <a:rPr lang="en-US" sz="2200" b="1" dirty="0">
                <a:solidFill>
                  <a:srgbClr val="F7F1E8"/>
                </a:solidFill>
                <a:latin typeface="Calibri" pitchFamily="34" charset="0"/>
                <a:ea typeface="Calibri" pitchFamily="34" charset="-122"/>
                <a:cs typeface="Calibri" pitchFamily="34" charset="-120"/>
              </a:rPr>
              <a:t>Jubair Md Ariful Islam  ·  王子</a:t>
            </a:r>
            <a:endParaRPr lang="en-US" sz="2200" dirty="0"/>
          </a:p>
          <a:p>
            <a:pPr indent="0" marL="0">
              <a:buNone/>
            </a:pPr>
            <a:r>
              <a:rPr lang="en-US" sz="1500" dirty="0">
                <a:solidFill>
                  <a:srgbClr val="B9AEA0"/>
                </a:solidFill>
                <a:latin typeface="Calibri" pitchFamily="34" charset="0"/>
                <a:ea typeface="Calibri" pitchFamily="34" charset="-122"/>
                <a:cs typeface="Calibri" pitchFamily="34" charset="-120"/>
              </a:rPr>
              <a:t>Master's candidate, International Business  ·  Class GMIB2501</a:t>
            </a:r>
            <a:endParaRPr lang="en-US" sz="2200" dirty="0"/>
          </a:p>
          <a:p>
            <a:pPr indent="0" marL="0">
              <a:buNone/>
            </a:pPr>
            <a:r>
              <a:rPr lang="en-US" sz="1500" dirty="0">
                <a:solidFill>
                  <a:srgbClr val="B9AEA0"/>
                </a:solidFill>
                <a:latin typeface="Calibri" pitchFamily="34" charset="0"/>
                <a:ea typeface="Calibri" pitchFamily="34" charset="-122"/>
                <a:cs typeface="Calibri" pitchFamily="34" charset="-120"/>
              </a:rPr>
              <a:t>School of International Education, Huai'an University</a:t>
            </a:r>
            <a:endParaRPr lang="en-US" sz="2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10F"/>
        </a:solidFill>
      </p:bgPr>
    </p:bg>
    <p:spTree>
      <p:nvGrpSpPr>
        <p:cNvPr id="1" name=""/>
        <p:cNvGrpSpPr/>
        <p:nvPr/>
      </p:nvGrpSpPr>
      <p:grpSpPr>
        <a:xfrm>
          <a:off x="0" y="0"/>
          <a:ext cx="0" cy="0"/>
          <a:chOff x="0" y="0"/>
          <a:chExt cx="0" cy="0"/>
        </a:xfrm>
      </p:grpSpPr>
      <p:sp>
        <p:nvSpPr>
          <p:cNvPr id="2" name="Seal"/>
          <p:cNvSpPr/>
          <p:nvPr/>
        </p:nvSpPr>
        <p:spPr>
          <a:xfrm>
            <a:off x="548640" y="457200"/>
            <a:ext cx="566928" cy="566928"/>
          </a:xfrm>
          <a:prstGeom prst="roundRect">
            <a:avLst>
              <a:gd name="adj" fmla="val 9677"/>
            </a:avLst>
          </a:prstGeom>
          <a:solidFill>
            <a:srgbClr val="C8322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356" b="1" dirty="0">
                <a:solidFill>
                  <a:srgbClr val="FFFFFF"/>
                </a:solidFill>
                <a:latin typeface="Microsoft YaHei" pitchFamily="34" charset="0"/>
                <a:ea typeface="Microsoft YaHei" pitchFamily="34" charset="-122"/>
                <a:cs typeface="Microsoft YaHei" pitchFamily="34" charset="-120"/>
              </a:rPr>
              <a:t>年</a:t>
            </a:r>
            <a:endParaRPr lang="en-US" sz="2356" dirty="0"/>
          </a:p>
        </p:txBody>
      </p:sp>
      <p:sp>
        <p:nvSpPr>
          <p:cNvPr id="4" name="Text 2"/>
          <p:cNvSpPr txBox="1"/>
          <p:nvPr/>
        </p:nvSpPr>
        <p:spPr>
          <a:xfrm>
            <a:off x="1280160" y="457200"/>
            <a:ext cx="8229600" cy="566928"/>
          </a:xfrm>
          <a:prstGeom prst="rect">
            <a:avLst/>
          </a:prstGeom>
          <a:noFill/>
          <a:ln/>
        </p:spPr>
        <p:txBody>
          <a:bodyPr wrap="square" lIns="0" tIns="0" rIns="0" bIns="0" rtlCol="0" anchor="ctr"/>
          <a:lstStyle/>
          <a:p>
            <a:pPr indent="0" marL="0">
              <a:buNone/>
            </a:pPr>
            <a:r>
              <a:rPr lang="en-US" sz="1300" b="1" spc="300" kern="0" dirty="0">
                <a:solidFill>
                  <a:srgbClr val="E0B25A"/>
                </a:solidFill>
                <a:latin typeface="Calibri" pitchFamily="34" charset="0"/>
                <a:ea typeface="Calibri" pitchFamily="34" charset="-122"/>
                <a:cs typeface="Calibri" pitchFamily="34" charset="-120"/>
              </a:rPr>
              <a:t>MY YEAR AT A GLANCE</a:t>
            </a:r>
            <a:endParaRPr lang="en-US" sz="1300" dirty="0"/>
          </a:p>
        </p:txBody>
      </p:sp>
      <p:sp>
        <p:nvSpPr>
          <p:cNvPr id="5" name="Text 3"/>
          <p:cNvSpPr txBox="1"/>
          <p:nvPr/>
        </p:nvSpPr>
        <p:spPr>
          <a:xfrm>
            <a:off x="548640" y="1097280"/>
            <a:ext cx="11094415" cy="777240"/>
          </a:xfrm>
          <a:prstGeom prst="rect">
            <a:avLst/>
          </a:prstGeom>
          <a:noFill/>
          <a:ln/>
        </p:spPr>
        <p:txBody>
          <a:bodyPr wrap="square" lIns="0" tIns="0" rIns="0" bIns="0" rtlCol="0" anchor="ctr"/>
          <a:lstStyle/>
          <a:p>
            <a:pPr indent="0" marL="0">
              <a:buNone/>
            </a:pPr>
            <a:r>
              <a:rPr lang="en-US" sz="3800" b="1" dirty="0">
                <a:solidFill>
                  <a:srgbClr val="F7F1E8"/>
                </a:solidFill>
                <a:latin typeface="Cambria" pitchFamily="34" charset="0"/>
                <a:ea typeface="Cambria" pitchFamily="34" charset="-122"/>
                <a:cs typeface="Cambria" pitchFamily="34" charset="-120"/>
              </a:rPr>
              <a:t>Scholar. Artist. Host and helper.</a:t>
            </a:r>
            <a:endParaRPr lang="en-US" sz="3800" dirty="0"/>
          </a:p>
        </p:txBody>
      </p:sp>
      <p:sp>
        <p:nvSpPr>
          <p:cNvPr id="6"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B9AEA0"/>
                </a:solidFill>
                <a:latin typeface="Calibri" pitchFamily="34" charset="0"/>
                <a:ea typeface="Calibri" pitchFamily="34" charset="-122"/>
                <a:cs typeface="Calibri" pitchFamily="34" charset="-120"/>
              </a:rPr>
              <a:t>Jubair Md Ariful Islam · 王子</a:t>
            </a:r>
            <a:endParaRPr lang="en-US" sz="1000" dirty="0"/>
          </a:p>
        </p:txBody>
      </p:sp>
      <p:sp>
        <p:nvSpPr>
          <p:cNvPr id="7" name="Text 5"/>
          <p:cNvSpPr txBox="1"/>
          <p:nvPr/>
        </p:nvSpPr>
        <p:spPr>
          <a:xfrm>
            <a:off x="9814255" y="6400800"/>
            <a:ext cx="1828800" cy="274320"/>
          </a:xfrm>
          <a:prstGeom prst="rect">
            <a:avLst/>
          </a:prstGeom>
          <a:noFill/>
          <a:ln/>
        </p:spPr>
        <p:txBody>
          <a:bodyPr wrap="square" lIns="0" tIns="0" rIns="0" bIns="0" rtlCol="0" anchor="ctr"/>
          <a:lstStyle/>
          <a:p>
            <a:pPr algn="r" indent="0" marL="0">
              <a:buNone/>
            </a:pPr>
            <a:r>
              <a:rPr lang="en-US" sz="1000" dirty="0">
                <a:solidFill>
                  <a:srgbClr val="B9AEA0"/>
                </a:solidFill>
                <a:latin typeface="Calibri" pitchFamily="34" charset="0"/>
                <a:ea typeface="Calibri" pitchFamily="34" charset="-122"/>
                <a:cs typeface="Calibri" pitchFamily="34" charset="-120"/>
              </a:rPr>
              <a:t>02 / 11</a:t>
            </a:r>
            <a:endParaRPr lang="en-US" sz="1000" dirty="0"/>
          </a:p>
        </p:txBody>
      </p:sp>
      <p:sp>
        <p:nvSpPr>
          <p:cNvPr id="9" name="Card"/>
          <p:cNvSpPr/>
          <p:nvPr/>
        </p:nvSpPr>
        <p:spPr>
          <a:xfrm>
            <a:off x="548640" y="2148840"/>
            <a:ext cx="3520440" cy="3977640"/>
          </a:xfrm>
          <a:prstGeom prst="roundRect">
            <a:avLst>
              <a:gd name="adj" fmla="val 3117"/>
            </a:avLst>
          </a:prstGeom>
          <a:solidFill>
            <a:srgbClr val="221C18"/>
          </a:solidFill>
          <a:ln w="9525">
            <a:solidFill>
              <a:srgbClr val="3A312A"/>
            </a:solidFill>
            <a:prstDash val="solid"/>
          </a:ln>
        </p:spPr>
      </p:sp>
      <p:sp>
        <p:nvSpPr>
          <p:cNvPr id="10" name="Seal"/>
          <p:cNvSpPr/>
          <p:nvPr/>
        </p:nvSpPr>
        <p:spPr>
          <a:xfrm>
            <a:off x="868680" y="2468880"/>
            <a:ext cx="566928" cy="566928"/>
          </a:xfrm>
          <a:prstGeom prst="roundRect">
            <a:avLst>
              <a:gd name="adj" fmla="val 9677"/>
            </a:avLst>
          </a:prstGeom>
          <a:solidFill>
            <a:srgbClr val="C8322B"/>
          </a:solidFill>
          <a:ln/>
        </p:spPr>
      </p:sp>
      <p:sp>
        <p:nvSpPr>
          <p:cNvPr id="11" name="Text 8"/>
          <p:cNvSpPr txBox="1"/>
          <p:nvPr/>
        </p:nvSpPr>
        <p:spPr>
          <a:xfrm>
            <a:off x="868680" y="2468880"/>
            <a:ext cx="566928" cy="566928"/>
          </a:xfrm>
          <a:prstGeom prst="rect">
            <a:avLst/>
          </a:prstGeom>
          <a:noFill/>
          <a:ln/>
        </p:spPr>
        <p:txBody>
          <a:bodyPr wrap="square" lIns="0" tIns="0" rIns="0" bIns="0" rtlCol="0" anchor="ctr"/>
          <a:lstStyle/>
          <a:p>
            <a:pPr algn="ctr" indent="0" marL="0">
              <a:buNone/>
            </a:pPr>
            <a:r>
              <a:rPr lang="en-US" sz="2356" b="1" dirty="0">
                <a:solidFill>
                  <a:srgbClr val="FFFFFF"/>
                </a:solidFill>
                <a:latin typeface="Microsoft YaHei" pitchFamily="34" charset="0"/>
                <a:ea typeface="Microsoft YaHei" pitchFamily="34" charset="-122"/>
                <a:cs typeface="Microsoft YaHei" pitchFamily="34" charset="-120"/>
              </a:rPr>
              <a:t>学</a:t>
            </a:r>
            <a:endParaRPr lang="en-US" sz="2356" dirty="0"/>
          </a:p>
        </p:txBody>
      </p:sp>
      <p:sp>
        <p:nvSpPr>
          <p:cNvPr id="12" name="Text 9"/>
          <p:cNvSpPr txBox="1"/>
          <p:nvPr/>
        </p:nvSpPr>
        <p:spPr>
          <a:xfrm>
            <a:off x="1554480" y="2468880"/>
            <a:ext cx="2331720" cy="566928"/>
          </a:xfrm>
          <a:prstGeom prst="rect">
            <a:avLst/>
          </a:prstGeom>
          <a:noFill/>
          <a:ln/>
        </p:spPr>
        <p:txBody>
          <a:bodyPr wrap="square" lIns="0" tIns="0" rIns="0" bIns="0" rtlCol="0" anchor="ctr"/>
          <a:lstStyle/>
          <a:p>
            <a:pPr indent="0" marL="0">
              <a:buNone/>
            </a:pPr>
            <a:r>
              <a:rPr lang="en-US" sz="1300" b="1" spc="200" kern="0" dirty="0">
                <a:solidFill>
                  <a:srgbClr val="E0B25A"/>
                </a:solidFill>
                <a:latin typeface="Calibri" pitchFamily="34" charset="0"/>
                <a:ea typeface="Calibri" pitchFamily="34" charset="-122"/>
                <a:cs typeface="Calibri" pitchFamily="34" charset="-120"/>
              </a:rPr>
              <a:t>ACADEMIC ACHIEVEMENTS</a:t>
            </a:r>
            <a:endParaRPr lang="en-US" sz="1300" dirty="0"/>
          </a:p>
        </p:txBody>
      </p:sp>
      <p:sp>
        <p:nvSpPr>
          <p:cNvPr id="13" name="Text 10"/>
          <p:cNvSpPr txBox="1"/>
          <p:nvPr/>
        </p:nvSpPr>
        <p:spPr>
          <a:xfrm>
            <a:off x="868680" y="3200400"/>
            <a:ext cx="2880360" cy="822960"/>
          </a:xfrm>
          <a:prstGeom prst="rect">
            <a:avLst/>
          </a:prstGeom>
          <a:noFill/>
          <a:ln/>
        </p:spPr>
        <p:txBody>
          <a:bodyPr wrap="square" lIns="0" tIns="0" rIns="0" bIns="0" rtlCol="0" anchor="ctr"/>
          <a:lstStyle/>
          <a:p>
            <a:pPr indent="0" marL="0">
              <a:buNone/>
            </a:pPr>
            <a:r>
              <a:rPr lang="en-US" sz="4800" b="1" dirty="0">
                <a:solidFill>
                  <a:srgbClr val="F7F1E8"/>
                </a:solidFill>
                <a:latin typeface="Cambria" pitchFamily="34" charset="0"/>
                <a:ea typeface="Cambria" pitchFamily="34" charset="-122"/>
                <a:cs typeface="Cambria" pitchFamily="34" charset="-120"/>
              </a:rPr>
              <a:t>B → A</a:t>
            </a:r>
            <a:endParaRPr lang="en-US" sz="4800" dirty="0"/>
          </a:p>
        </p:txBody>
      </p:sp>
      <p:sp>
        <p:nvSpPr>
          <p:cNvPr id="14" name="Text 11"/>
          <p:cNvSpPr txBox="1"/>
          <p:nvPr/>
        </p:nvSpPr>
        <p:spPr>
          <a:xfrm>
            <a:off x="868680" y="4251960"/>
            <a:ext cx="288036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7F1E8"/>
                </a:solidFill>
                <a:latin typeface="Calibri" pitchFamily="34" charset="0"/>
                <a:ea typeface="Calibri" pitchFamily="34" charset="-122"/>
                <a:cs typeface="Calibri" pitchFamily="34" charset="-120"/>
              </a:rPr>
              <a:t>Category B → Category A</a:t>
            </a:r>
            <a:endParaRPr lang="en-US" sz="1600" dirty="0"/>
          </a:p>
          <a:p>
            <a:pPr marL="342900" indent="-342900">
              <a:spcAft>
                <a:spcPts val="800"/>
              </a:spcAft>
              <a:buSzPct val="100000"/>
              <a:buChar char="•"/>
            </a:pPr>
            <a:r>
              <a:rPr lang="en-US" sz="1600" dirty="0">
                <a:solidFill>
                  <a:srgbClr val="F7F1E8"/>
                </a:solidFill>
                <a:latin typeface="Calibri" pitchFamily="34" charset="0"/>
                <a:ea typeface="Calibri" pitchFamily="34" charset="-122"/>
                <a:cs typeface="Calibri" pitchFamily="34" charset="-120"/>
              </a:rPr>
              <a:t>Highest marks in my major</a:t>
            </a:r>
            <a:endParaRPr lang="en-US" sz="1600" dirty="0"/>
          </a:p>
          <a:p>
            <a:pPr marL="342900" indent="-342900">
              <a:spcAft>
                <a:spcPts val="800"/>
              </a:spcAft>
              <a:buSzPct val="100000"/>
              <a:buChar char="•"/>
            </a:pPr>
            <a:r>
              <a:rPr lang="en-US" sz="1600" dirty="0">
                <a:solidFill>
                  <a:srgbClr val="F7F1E8"/>
                </a:solidFill>
                <a:latin typeface="Calibri" pitchFamily="34" charset="0"/>
                <a:ea typeface="Calibri" pitchFamily="34" charset="-122"/>
                <a:cs typeface="Calibri" pitchFamily="34" charset="-120"/>
              </a:rPr>
              <a:t>HSK 3 · 250 / 300</a:t>
            </a:r>
            <a:endParaRPr lang="en-US" sz="1600" dirty="0"/>
          </a:p>
        </p:txBody>
      </p:sp>
      <p:sp>
        <p:nvSpPr>
          <p:cNvPr id="15" name="Card"/>
          <p:cNvSpPr/>
          <p:nvPr/>
        </p:nvSpPr>
        <p:spPr>
          <a:xfrm>
            <a:off x="4379976" y="2148840"/>
            <a:ext cx="3520440" cy="3977640"/>
          </a:xfrm>
          <a:prstGeom prst="roundRect">
            <a:avLst>
              <a:gd name="adj" fmla="val 3117"/>
            </a:avLst>
          </a:prstGeom>
          <a:solidFill>
            <a:srgbClr val="221C18"/>
          </a:solidFill>
          <a:ln w="9525">
            <a:solidFill>
              <a:srgbClr val="3A312A"/>
            </a:solidFill>
            <a:prstDash val="solid"/>
          </a:ln>
        </p:spPr>
      </p:sp>
      <p:sp>
        <p:nvSpPr>
          <p:cNvPr id="16" name="Seal"/>
          <p:cNvSpPr/>
          <p:nvPr/>
        </p:nvSpPr>
        <p:spPr>
          <a:xfrm>
            <a:off x="4700016" y="2468880"/>
            <a:ext cx="566928" cy="566928"/>
          </a:xfrm>
          <a:prstGeom prst="roundRect">
            <a:avLst>
              <a:gd name="adj" fmla="val 9677"/>
            </a:avLst>
          </a:prstGeom>
          <a:solidFill>
            <a:srgbClr val="C8322B"/>
          </a:solidFill>
          <a:ln/>
        </p:spPr>
      </p:sp>
      <p:sp>
        <p:nvSpPr>
          <p:cNvPr id="17" name="Text 14"/>
          <p:cNvSpPr txBox="1"/>
          <p:nvPr/>
        </p:nvSpPr>
        <p:spPr>
          <a:xfrm>
            <a:off x="4700016" y="2468880"/>
            <a:ext cx="566928" cy="566928"/>
          </a:xfrm>
          <a:prstGeom prst="rect">
            <a:avLst/>
          </a:prstGeom>
          <a:noFill/>
          <a:ln/>
        </p:spPr>
        <p:txBody>
          <a:bodyPr wrap="square" lIns="0" tIns="0" rIns="0" bIns="0" rtlCol="0" anchor="ctr"/>
          <a:lstStyle/>
          <a:p>
            <a:pPr algn="ctr" indent="0" marL="0">
              <a:buNone/>
            </a:pPr>
            <a:r>
              <a:rPr lang="en-US" sz="2356" b="1" dirty="0">
                <a:solidFill>
                  <a:srgbClr val="FFFFFF"/>
                </a:solidFill>
                <a:latin typeface="Microsoft YaHei" pitchFamily="34" charset="0"/>
                <a:ea typeface="Microsoft YaHei" pitchFamily="34" charset="-122"/>
                <a:cs typeface="Microsoft YaHei" pitchFamily="34" charset="-120"/>
              </a:rPr>
              <a:t>艺</a:t>
            </a:r>
            <a:endParaRPr lang="en-US" sz="2356" dirty="0"/>
          </a:p>
        </p:txBody>
      </p:sp>
      <p:sp>
        <p:nvSpPr>
          <p:cNvPr id="18" name="Text 15"/>
          <p:cNvSpPr txBox="1"/>
          <p:nvPr/>
        </p:nvSpPr>
        <p:spPr>
          <a:xfrm>
            <a:off x="5385816" y="2468880"/>
            <a:ext cx="2331720" cy="566928"/>
          </a:xfrm>
          <a:prstGeom prst="rect">
            <a:avLst/>
          </a:prstGeom>
          <a:noFill/>
          <a:ln/>
        </p:spPr>
        <p:txBody>
          <a:bodyPr wrap="square" lIns="0" tIns="0" rIns="0" bIns="0" rtlCol="0" anchor="ctr"/>
          <a:lstStyle/>
          <a:p>
            <a:pPr indent="0" marL="0">
              <a:buNone/>
            </a:pPr>
            <a:r>
              <a:rPr lang="en-US" sz="1300" b="1" spc="200" kern="0" dirty="0">
                <a:solidFill>
                  <a:srgbClr val="E0B25A"/>
                </a:solidFill>
                <a:latin typeface="Calibri" pitchFamily="34" charset="0"/>
                <a:ea typeface="Calibri" pitchFamily="34" charset="-122"/>
                <a:cs typeface="Calibri" pitchFamily="34" charset="-120"/>
              </a:rPr>
              <a:t>ACCOMPLISHMENTS</a:t>
            </a:r>
            <a:endParaRPr lang="en-US" sz="1300" dirty="0"/>
          </a:p>
        </p:txBody>
      </p:sp>
      <p:sp>
        <p:nvSpPr>
          <p:cNvPr id="19" name="Text 16"/>
          <p:cNvSpPr txBox="1"/>
          <p:nvPr/>
        </p:nvSpPr>
        <p:spPr>
          <a:xfrm>
            <a:off x="4700016" y="3200400"/>
            <a:ext cx="2880360" cy="822960"/>
          </a:xfrm>
          <a:prstGeom prst="rect">
            <a:avLst/>
          </a:prstGeom>
          <a:noFill/>
          <a:ln/>
        </p:spPr>
        <p:txBody>
          <a:bodyPr wrap="square" lIns="0" tIns="0" rIns="0" bIns="0" rtlCol="0" anchor="ctr"/>
          <a:lstStyle/>
          <a:p>
            <a:pPr indent="0" marL="0">
              <a:buNone/>
            </a:pPr>
            <a:r>
              <a:rPr lang="en-US" sz="3400" b="1" dirty="0">
                <a:solidFill>
                  <a:srgbClr val="F7F1E8"/>
                </a:solidFill>
                <a:latin typeface="Cambria" pitchFamily="34" charset="0"/>
                <a:ea typeface="Cambria" pitchFamily="34" charset="-122"/>
                <a:cs typeface="Cambria" pitchFamily="34" charset="-120"/>
              </a:rPr>
              <a:t>Provincial</a:t>
            </a:r>
            <a:endParaRPr lang="en-US" sz="3400" dirty="0"/>
          </a:p>
        </p:txBody>
      </p:sp>
      <p:sp>
        <p:nvSpPr>
          <p:cNvPr id="20" name="Text 17"/>
          <p:cNvSpPr txBox="1"/>
          <p:nvPr/>
        </p:nvSpPr>
        <p:spPr>
          <a:xfrm>
            <a:off x="4700016" y="4251960"/>
            <a:ext cx="288036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7F1E8"/>
                </a:solidFill>
                <a:latin typeface="Calibri" pitchFamily="34" charset="0"/>
                <a:ea typeface="Calibri" pitchFamily="34" charset="-122"/>
                <a:cs typeface="Calibri" pitchFamily="34" charset="-120"/>
              </a:rPr>
              <a:t>Provincial calligraphy award</a:t>
            </a:r>
            <a:endParaRPr lang="en-US" sz="1600" dirty="0"/>
          </a:p>
          <a:p>
            <a:pPr marL="342900" indent="-342900">
              <a:spcAft>
                <a:spcPts val="800"/>
              </a:spcAft>
              <a:buSzPct val="100000"/>
              <a:buChar char="•"/>
            </a:pPr>
            <a:r>
              <a:rPr lang="en-US" sz="1600" dirty="0">
                <a:solidFill>
                  <a:srgbClr val="F7F1E8"/>
                </a:solidFill>
                <a:latin typeface="Calibri" pitchFamily="34" charset="0"/>
                <a:ea typeface="Calibri" pitchFamily="34" charset="-122"/>
                <a:cs typeface="Calibri" pitchFamily="34" charset="-120"/>
              </a:rPr>
              <a:t>Research paper under peer review</a:t>
            </a:r>
            <a:endParaRPr lang="en-US" sz="1600" dirty="0"/>
          </a:p>
          <a:p>
            <a:pPr marL="342900" indent="-342900">
              <a:spcAft>
                <a:spcPts val="800"/>
              </a:spcAft>
              <a:buSzPct val="100000"/>
              <a:buChar char="•"/>
            </a:pPr>
            <a:r>
              <a:rPr lang="en-US" sz="1600" dirty="0">
                <a:solidFill>
                  <a:srgbClr val="F7F1E8"/>
                </a:solidFill>
                <a:latin typeface="Calibri" pitchFamily="34" charset="0"/>
                <a:ea typeface="Calibri" pitchFamily="34" charset="-122"/>
                <a:cs typeface="Calibri" pitchFamily="34" charset="-120"/>
              </a:rPr>
              <a:t>Still practising the brush</a:t>
            </a:r>
            <a:endParaRPr lang="en-US" sz="1600" dirty="0"/>
          </a:p>
        </p:txBody>
      </p:sp>
      <p:sp>
        <p:nvSpPr>
          <p:cNvPr id="21" name="Card"/>
          <p:cNvSpPr/>
          <p:nvPr/>
        </p:nvSpPr>
        <p:spPr>
          <a:xfrm>
            <a:off x="8211312" y="2148840"/>
            <a:ext cx="3520440" cy="3977640"/>
          </a:xfrm>
          <a:prstGeom prst="roundRect">
            <a:avLst>
              <a:gd name="adj" fmla="val 3117"/>
            </a:avLst>
          </a:prstGeom>
          <a:solidFill>
            <a:srgbClr val="221C18"/>
          </a:solidFill>
          <a:ln w="9525">
            <a:solidFill>
              <a:srgbClr val="3A312A"/>
            </a:solidFill>
            <a:prstDash val="solid"/>
          </a:ln>
        </p:spPr>
      </p:sp>
      <p:sp>
        <p:nvSpPr>
          <p:cNvPr id="22" name="Seal"/>
          <p:cNvSpPr/>
          <p:nvPr/>
        </p:nvSpPr>
        <p:spPr>
          <a:xfrm>
            <a:off x="8531352" y="2468880"/>
            <a:ext cx="566928" cy="566928"/>
          </a:xfrm>
          <a:prstGeom prst="roundRect">
            <a:avLst>
              <a:gd name="adj" fmla="val 9677"/>
            </a:avLst>
          </a:prstGeom>
          <a:solidFill>
            <a:srgbClr val="C8322B"/>
          </a:solidFill>
          <a:ln/>
        </p:spPr>
      </p:sp>
      <p:sp>
        <p:nvSpPr>
          <p:cNvPr id="23" name="Text 20"/>
          <p:cNvSpPr txBox="1"/>
          <p:nvPr/>
        </p:nvSpPr>
        <p:spPr>
          <a:xfrm>
            <a:off x="8531352" y="2468880"/>
            <a:ext cx="566928" cy="566928"/>
          </a:xfrm>
          <a:prstGeom prst="rect">
            <a:avLst/>
          </a:prstGeom>
          <a:noFill/>
          <a:ln/>
        </p:spPr>
        <p:txBody>
          <a:bodyPr wrap="square" lIns="0" tIns="0" rIns="0" bIns="0" rtlCol="0" anchor="ctr"/>
          <a:lstStyle/>
          <a:p>
            <a:pPr algn="ctr" indent="0" marL="0">
              <a:buNone/>
            </a:pPr>
            <a:r>
              <a:rPr lang="en-US" sz="2356" b="1" dirty="0">
                <a:solidFill>
                  <a:srgbClr val="FFFFFF"/>
                </a:solidFill>
                <a:latin typeface="Microsoft YaHei" pitchFamily="34" charset="0"/>
                <a:ea typeface="Microsoft YaHei" pitchFamily="34" charset="-122"/>
                <a:cs typeface="Microsoft YaHei" pitchFamily="34" charset="-120"/>
              </a:rPr>
              <a:t>行</a:t>
            </a:r>
            <a:endParaRPr lang="en-US" sz="2356" dirty="0"/>
          </a:p>
        </p:txBody>
      </p:sp>
      <p:sp>
        <p:nvSpPr>
          <p:cNvPr id="24" name="Text 21"/>
          <p:cNvSpPr txBox="1"/>
          <p:nvPr/>
        </p:nvSpPr>
        <p:spPr>
          <a:xfrm>
            <a:off x="9217152" y="2468880"/>
            <a:ext cx="2331720" cy="566928"/>
          </a:xfrm>
          <a:prstGeom prst="rect">
            <a:avLst/>
          </a:prstGeom>
          <a:noFill/>
          <a:ln/>
        </p:spPr>
        <p:txBody>
          <a:bodyPr wrap="square" lIns="0" tIns="0" rIns="0" bIns="0" rtlCol="0" anchor="ctr"/>
          <a:lstStyle/>
          <a:p>
            <a:pPr indent="0" marL="0">
              <a:buNone/>
            </a:pPr>
            <a:r>
              <a:rPr lang="en-US" sz="1300" b="1" spc="200" kern="0" dirty="0">
                <a:solidFill>
                  <a:srgbClr val="E0B25A"/>
                </a:solidFill>
                <a:latin typeface="Calibri" pitchFamily="34" charset="0"/>
                <a:ea typeface="Calibri" pitchFamily="34" charset="-122"/>
                <a:cs typeface="Calibri" pitchFamily="34" charset="-120"/>
              </a:rPr>
              <a:t>ACTIVITIES &amp; SERVICE</a:t>
            </a:r>
            <a:endParaRPr lang="en-US" sz="1300" dirty="0"/>
          </a:p>
        </p:txBody>
      </p:sp>
      <p:sp>
        <p:nvSpPr>
          <p:cNvPr id="25" name="Text 22"/>
          <p:cNvSpPr txBox="1"/>
          <p:nvPr/>
        </p:nvSpPr>
        <p:spPr>
          <a:xfrm>
            <a:off x="8531352" y="3200400"/>
            <a:ext cx="2880360" cy="822960"/>
          </a:xfrm>
          <a:prstGeom prst="rect">
            <a:avLst/>
          </a:prstGeom>
          <a:noFill/>
          <a:ln/>
        </p:spPr>
        <p:txBody>
          <a:bodyPr wrap="square" lIns="0" tIns="0" rIns="0" bIns="0" rtlCol="0" anchor="ctr"/>
          <a:lstStyle/>
          <a:p>
            <a:pPr indent="0" marL="0">
              <a:buNone/>
            </a:pPr>
            <a:r>
              <a:rPr lang="en-US" sz="3400" b="1" dirty="0">
                <a:solidFill>
                  <a:srgbClr val="F7F1E8"/>
                </a:solidFill>
                <a:latin typeface="Cambria" pitchFamily="34" charset="0"/>
                <a:ea typeface="Cambria" pitchFamily="34" charset="-122"/>
                <a:cs typeface="Cambria" pitchFamily="34" charset="-120"/>
              </a:rPr>
              <a:t>Service Award</a:t>
            </a:r>
            <a:endParaRPr lang="en-US" sz="3400" dirty="0"/>
          </a:p>
        </p:txBody>
      </p:sp>
      <p:sp>
        <p:nvSpPr>
          <p:cNvPr id="26" name="Text 23"/>
          <p:cNvSpPr txBox="1"/>
          <p:nvPr/>
        </p:nvSpPr>
        <p:spPr>
          <a:xfrm>
            <a:off x="8531352" y="4251960"/>
            <a:ext cx="288036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7F1E8"/>
                </a:solidFill>
                <a:latin typeface="Calibri" pitchFamily="34" charset="0"/>
                <a:ea typeface="Calibri" pitchFamily="34" charset="-122"/>
                <a:cs typeface="Calibri" pitchFamily="34" charset="-120"/>
              </a:rPr>
              <a:t>Hosted Chinese festivals</a:t>
            </a:r>
            <a:endParaRPr lang="en-US" sz="1600" dirty="0"/>
          </a:p>
          <a:p>
            <a:pPr marL="342900" indent="-342900">
              <a:spcAft>
                <a:spcPts val="800"/>
              </a:spcAft>
              <a:buSzPct val="100000"/>
              <a:buChar char="•"/>
            </a:pPr>
            <a:r>
              <a:rPr lang="en-US" sz="1600" dirty="0">
                <a:solidFill>
                  <a:srgbClr val="F7F1E8"/>
                </a:solidFill>
                <a:latin typeface="Calibri" pitchFamily="34" charset="0"/>
                <a:ea typeface="Calibri" pitchFamily="34" charset="-122"/>
                <a:cs typeface="Calibri" pitchFamily="34" charset="-120"/>
              </a:rPr>
              <a:t>Service Award for assisting SIE</a:t>
            </a:r>
            <a:endParaRPr lang="en-US" sz="1600" dirty="0"/>
          </a:p>
          <a:p>
            <a:pPr marL="342900" indent="-342900">
              <a:spcAft>
                <a:spcPts val="800"/>
              </a:spcAft>
              <a:buSzPct val="100000"/>
              <a:buChar char="•"/>
            </a:pPr>
            <a:r>
              <a:rPr lang="en-US" sz="1600" dirty="0">
                <a:solidFill>
                  <a:srgbClr val="F7F1E8"/>
                </a:solidFill>
                <a:latin typeface="Calibri" pitchFamily="34" charset="0"/>
                <a:ea typeface="Calibri" pitchFamily="34" charset="-122"/>
                <a:cs typeface="Calibri" pitchFamily="34" charset="-120"/>
              </a:rPr>
              <a:t>Class monitor · Student Council VP</a:t>
            </a:r>
            <a:endParaRPr lang="en-US" sz="16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10F"/>
        </a:solidFill>
      </p:bgPr>
    </p:bg>
    <p:spTree>
      <p:nvGrpSpPr>
        <p:cNvPr id="1" name=""/>
        <p:cNvGrpSpPr/>
        <p:nvPr/>
      </p:nvGrpSpPr>
      <p:grpSpPr>
        <a:xfrm>
          <a:off x="0" y="0"/>
          <a:ext cx="0" cy="0"/>
          <a:chOff x="0" y="0"/>
          <a:chExt cx="0" cy="0"/>
        </a:xfrm>
      </p:grpSpPr>
      <p:sp>
        <p:nvSpPr>
          <p:cNvPr id="2" name="Seal"/>
          <p:cNvSpPr/>
          <p:nvPr/>
        </p:nvSpPr>
        <p:spPr>
          <a:xfrm>
            <a:off x="548640" y="457200"/>
            <a:ext cx="566928" cy="566928"/>
          </a:xfrm>
          <a:prstGeom prst="roundRect">
            <a:avLst>
              <a:gd name="adj" fmla="val 9677"/>
            </a:avLst>
          </a:prstGeom>
          <a:solidFill>
            <a:srgbClr val="C8322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356" b="1" dirty="0">
                <a:solidFill>
                  <a:srgbClr val="FFFFFF"/>
                </a:solidFill>
                <a:latin typeface="Microsoft YaHei" pitchFamily="34" charset="0"/>
                <a:ea typeface="Microsoft YaHei" pitchFamily="34" charset="-122"/>
                <a:cs typeface="Microsoft YaHei" pitchFamily="34" charset="-120"/>
              </a:rPr>
              <a:t>学</a:t>
            </a:r>
            <a:endParaRPr lang="en-US" sz="2356" dirty="0"/>
          </a:p>
        </p:txBody>
      </p:sp>
      <p:sp>
        <p:nvSpPr>
          <p:cNvPr id="4" name="Text 2"/>
          <p:cNvSpPr txBox="1"/>
          <p:nvPr/>
        </p:nvSpPr>
        <p:spPr>
          <a:xfrm>
            <a:off x="1280160" y="457200"/>
            <a:ext cx="8229600" cy="566928"/>
          </a:xfrm>
          <a:prstGeom prst="rect">
            <a:avLst/>
          </a:prstGeom>
          <a:noFill/>
          <a:ln/>
        </p:spPr>
        <p:txBody>
          <a:bodyPr wrap="square" lIns="0" tIns="0" rIns="0" bIns="0" rtlCol="0" anchor="ctr"/>
          <a:lstStyle/>
          <a:p>
            <a:pPr indent="0" marL="0">
              <a:buNone/>
            </a:pPr>
            <a:r>
              <a:rPr lang="en-US" sz="1300" b="1" spc="300" kern="0" dirty="0">
                <a:solidFill>
                  <a:srgbClr val="E0B25A"/>
                </a:solidFill>
                <a:latin typeface="Calibri" pitchFamily="34" charset="0"/>
                <a:ea typeface="Calibri" pitchFamily="34" charset="-122"/>
                <a:cs typeface="Calibri" pitchFamily="34" charset="-120"/>
              </a:rPr>
              <a:t>1 · ACADEMIC ACHIEVEMENTS</a:t>
            </a:r>
            <a:endParaRPr lang="en-US" sz="1300" dirty="0"/>
          </a:p>
        </p:txBody>
      </p:sp>
      <p:sp>
        <p:nvSpPr>
          <p:cNvPr id="5" name="Text 3"/>
          <p:cNvSpPr txBox="1"/>
          <p:nvPr/>
        </p:nvSpPr>
        <p:spPr>
          <a:xfrm>
            <a:off x="548640" y="1097280"/>
            <a:ext cx="11094415" cy="777240"/>
          </a:xfrm>
          <a:prstGeom prst="rect">
            <a:avLst/>
          </a:prstGeom>
          <a:noFill/>
          <a:ln/>
        </p:spPr>
        <p:txBody>
          <a:bodyPr wrap="square" lIns="0" tIns="0" rIns="0" bIns="0" rtlCol="0" anchor="ctr"/>
          <a:lstStyle/>
          <a:p>
            <a:pPr indent="0" marL="0">
              <a:buNone/>
            </a:pPr>
            <a:r>
              <a:rPr lang="en-US" sz="3800" b="1" dirty="0">
                <a:solidFill>
                  <a:srgbClr val="F7F1E8"/>
                </a:solidFill>
                <a:latin typeface="Cambria" pitchFamily="34" charset="0"/>
                <a:ea typeface="Cambria" pitchFamily="34" charset="-122"/>
                <a:cs typeface="Cambria" pitchFamily="34" charset="-120"/>
              </a:rPr>
              <a:t>From Category B to Category A</a:t>
            </a:r>
            <a:endParaRPr lang="en-US" sz="3800" dirty="0"/>
          </a:p>
        </p:txBody>
      </p:sp>
      <p:sp>
        <p:nvSpPr>
          <p:cNvPr id="6"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B9AEA0"/>
                </a:solidFill>
                <a:latin typeface="Calibri" pitchFamily="34" charset="0"/>
                <a:ea typeface="Calibri" pitchFamily="34" charset="-122"/>
                <a:cs typeface="Calibri" pitchFamily="34" charset="-120"/>
              </a:rPr>
              <a:t>Jubair Md Ariful Islam · 王子</a:t>
            </a:r>
            <a:endParaRPr lang="en-US" sz="1000" dirty="0"/>
          </a:p>
        </p:txBody>
      </p:sp>
      <p:sp>
        <p:nvSpPr>
          <p:cNvPr id="7" name="Text 5"/>
          <p:cNvSpPr txBox="1"/>
          <p:nvPr/>
        </p:nvSpPr>
        <p:spPr>
          <a:xfrm>
            <a:off x="9814255" y="6400800"/>
            <a:ext cx="1828800" cy="274320"/>
          </a:xfrm>
          <a:prstGeom prst="rect">
            <a:avLst/>
          </a:prstGeom>
          <a:noFill/>
          <a:ln/>
        </p:spPr>
        <p:txBody>
          <a:bodyPr wrap="square" lIns="0" tIns="0" rIns="0" bIns="0" rtlCol="0" anchor="ctr"/>
          <a:lstStyle/>
          <a:p>
            <a:pPr algn="r" indent="0" marL="0">
              <a:buNone/>
            </a:pPr>
            <a:r>
              <a:rPr lang="en-US" sz="1000" dirty="0">
                <a:solidFill>
                  <a:srgbClr val="B9AEA0"/>
                </a:solidFill>
                <a:latin typeface="Calibri" pitchFamily="34" charset="0"/>
                <a:ea typeface="Calibri" pitchFamily="34" charset="-122"/>
                <a:cs typeface="Calibri" pitchFamily="34" charset="-120"/>
              </a:rPr>
              <a:t>03 / 11</a:t>
            </a:r>
            <a:endParaRPr lang="en-US" sz="1000" dirty="0"/>
          </a:p>
        </p:txBody>
      </p:sp>
      <p:sp>
        <p:nvSpPr>
          <p:cNvPr id="9" name="Card"/>
          <p:cNvSpPr/>
          <p:nvPr/>
        </p:nvSpPr>
        <p:spPr>
          <a:xfrm>
            <a:off x="548640" y="2103120"/>
            <a:ext cx="3383280" cy="1417320"/>
          </a:xfrm>
          <a:prstGeom prst="roundRect">
            <a:avLst>
              <a:gd name="adj" fmla="val 7742"/>
            </a:avLst>
          </a:prstGeom>
          <a:solidFill>
            <a:srgbClr val="221C18"/>
          </a:solidFill>
          <a:ln w="9525">
            <a:solidFill>
              <a:srgbClr val="3A312A"/>
            </a:solidFill>
            <a:prstDash val="solid"/>
          </a:ln>
        </p:spPr>
      </p:sp>
      <p:sp>
        <p:nvSpPr>
          <p:cNvPr id="10" name="Text 7"/>
          <p:cNvSpPr txBox="1"/>
          <p:nvPr/>
        </p:nvSpPr>
        <p:spPr>
          <a:xfrm>
            <a:off x="822960" y="2103120"/>
            <a:ext cx="2926080" cy="1417320"/>
          </a:xfrm>
          <a:prstGeom prst="rect">
            <a:avLst/>
          </a:prstGeom>
          <a:noFill/>
          <a:ln/>
        </p:spPr>
        <p:txBody>
          <a:bodyPr wrap="square" lIns="0" tIns="0" rIns="0" bIns="0" rtlCol="0" anchor="ctr"/>
          <a:lstStyle/>
          <a:p>
            <a:pPr indent="0" marL="0">
              <a:buNone/>
            </a:pPr>
            <a:r>
              <a:rPr lang="en-US" sz="1100" b="1" spc="200" kern="0" dirty="0">
                <a:solidFill>
                  <a:srgbClr val="B9AEA0"/>
                </a:solidFill>
                <a:latin typeface="Calibri" pitchFamily="34" charset="0"/>
                <a:ea typeface="Calibri" pitchFamily="34" charset="-122"/>
                <a:cs typeface="Calibri" pitchFamily="34" charset="-120"/>
              </a:rPr>
              <a:t>YEAR 1 · AWARDED</a:t>
            </a:r>
            <a:endParaRPr lang="en-US" sz="1100" dirty="0"/>
          </a:p>
          <a:p>
            <a:pPr indent="0" marL="0">
              <a:buNone/>
            </a:pPr>
            <a:r>
              <a:rPr lang="en-US" sz="3200" b="1" dirty="0">
                <a:solidFill>
                  <a:srgbClr val="F7F1E8"/>
                </a:solidFill>
                <a:latin typeface="Cambria" pitchFamily="34" charset="0"/>
                <a:ea typeface="Cambria" pitchFamily="34" charset="-122"/>
                <a:cs typeface="Cambria" pitchFamily="34" charset="-120"/>
              </a:rPr>
              <a:t>Category B</a:t>
            </a:r>
            <a:endParaRPr lang="en-US" sz="1100" dirty="0"/>
          </a:p>
        </p:txBody>
      </p:sp>
      <p:sp>
        <p:nvSpPr>
          <p:cNvPr id="11" name="Text 8"/>
          <p:cNvSpPr txBox="1"/>
          <p:nvPr/>
        </p:nvSpPr>
        <p:spPr>
          <a:xfrm>
            <a:off x="4114800" y="2240280"/>
            <a:ext cx="3959352" cy="365760"/>
          </a:xfrm>
          <a:prstGeom prst="rect">
            <a:avLst/>
          </a:prstGeom>
          <a:noFill/>
          <a:ln/>
        </p:spPr>
        <p:txBody>
          <a:bodyPr wrap="square" lIns="0" tIns="0" rIns="0" bIns="0" rtlCol="0" anchor="ctr"/>
          <a:lstStyle/>
          <a:p>
            <a:pPr algn="ctr" indent="0" marL="0">
              <a:buNone/>
            </a:pPr>
            <a:r>
              <a:rPr lang="en-US" sz="1300" b="1" dirty="0">
                <a:solidFill>
                  <a:srgbClr val="E0B25A"/>
                </a:solidFill>
                <a:latin typeface="Calibri" pitchFamily="34" charset="0"/>
                <a:ea typeface="Calibri" pitchFamily="34" charset="-122"/>
                <a:cs typeface="Calibri" pitchFamily="34" charset="-120"/>
              </a:rPr>
              <a:t>Annual Review  ·  年度考核</a:t>
            </a:r>
            <a:endParaRPr lang="en-US" sz="1300" dirty="0"/>
          </a:p>
        </p:txBody>
      </p:sp>
      <p:sp>
        <p:nvSpPr>
          <p:cNvPr id="12" name="Arrow"/>
          <p:cNvSpPr/>
          <p:nvPr/>
        </p:nvSpPr>
        <p:spPr>
          <a:xfrm>
            <a:off x="4206240" y="2651760"/>
            <a:ext cx="3776472" cy="457200"/>
          </a:xfrm>
          <a:prstGeom prst="rightArrow">
            <a:avLst/>
          </a:prstGeom>
          <a:solidFill>
            <a:srgbClr val="E0B25A"/>
          </a:solidFill>
          <a:ln/>
        </p:spPr>
      </p:sp>
      <p:sp>
        <p:nvSpPr>
          <p:cNvPr id="13" name="Category A card"/>
          <p:cNvSpPr/>
          <p:nvPr/>
        </p:nvSpPr>
        <p:spPr>
          <a:xfrm>
            <a:off x="8259775" y="2103120"/>
            <a:ext cx="3383280" cy="1417320"/>
          </a:xfrm>
          <a:prstGeom prst="roundRect">
            <a:avLst>
              <a:gd name="adj" fmla="val 7742"/>
            </a:avLst>
          </a:prstGeom>
          <a:solidFill>
            <a:srgbClr val="C8322B"/>
          </a:solidFill>
          <a:ln/>
        </p:spPr>
      </p:sp>
      <p:sp>
        <p:nvSpPr>
          <p:cNvPr id="14" name="Text 11"/>
          <p:cNvSpPr txBox="1"/>
          <p:nvPr/>
        </p:nvSpPr>
        <p:spPr>
          <a:xfrm>
            <a:off x="8534095" y="2103120"/>
            <a:ext cx="2926080" cy="1417320"/>
          </a:xfrm>
          <a:prstGeom prst="rect">
            <a:avLst/>
          </a:prstGeom>
          <a:noFill/>
          <a:ln/>
        </p:spPr>
        <p:txBody>
          <a:bodyPr wrap="square" lIns="0" tIns="0" rIns="0" bIns="0" rtlCol="0" anchor="ctr"/>
          <a:lstStyle/>
          <a:p>
            <a:pPr indent="0" marL="0">
              <a:buNone/>
            </a:pPr>
            <a:r>
              <a:rPr lang="en-US" sz="1100" b="1" spc="200" kern="0" dirty="0">
                <a:solidFill>
                  <a:srgbClr val="FFE9D6"/>
                </a:solidFill>
                <a:latin typeface="Calibri" pitchFamily="34" charset="0"/>
                <a:ea typeface="Calibri" pitchFamily="34" charset="-122"/>
                <a:cs typeface="Calibri" pitchFamily="34" charset="-120"/>
              </a:rPr>
              <a:t>THE UNIVERSITY AWARDED</a:t>
            </a:r>
            <a:endParaRPr lang="en-US" sz="1100" dirty="0"/>
          </a:p>
          <a:p>
            <a:pPr indent="0" marL="0">
              <a:buNone/>
            </a:pPr>
            <a:r>
              <a:rPr lang="en-US" sz="3200" b="1" dirty="0">
                <a:solidFill>
                  <a:srgbClr val="FFFFFF"/>
                </a:solidFill>
                <a:latin typeface="Cambria" pitchFamily="34" charset="0"/>
                <a:ea typeface="Cambria" pitchFamily="34" charset="-122"/>
                <a:cs typeface="Cambria" pitchFamily="34" charset="-120"/>
              </a:rPr>
              <a:t>Category A</a:t>
            </a:r>
            <a:endParaRPr lang="en-US" sz="1100" dirty="0"/>
          </a:p>
        </p:txBody>
      </p:sp>
      <p:sp>
        <p:nvSpPr>
          <p:cNvPr id="15" name="Text 12"/>
          <p:cNvSpPr txBox="1"/>
          <p:nvPr/>
        </p:nvSpPr>
        <p:spPr>
          <a:xfrm>
            <a:off x="548640" y="3840480"/>
            <a:ext cx="5486400" cy="320040"/>
          </a:xfrm>
          <a:prstGeom prst="rect">
            <a:avLst/>
          </a:prstGeom>
          <a:noFill/>
          <a:ln/>
        </p:spPr>
        <p:txBody>
          <a:bodyPr wrap="square" lIns="0" tIns="0" rIns="0" bIns="0" rtlCol="0" anchor="ctr"/>
          <a:lstStyle/>
          <a:p>
            <a:pPr indent="0" marL="0">
              <a:buNone/>
            </a:pPr>
            <a:r>
              <a:rPr lang="en-US" sz="1300" b="1" spc="300" kern="0" dirty="0">
                <a:solidFill>
                  <a:srgbClr val="E0B25A"/>
                </a:solidFill>
                <a:latin typeface="Calibri" pitchFamily="34" charset="0"/>
                <a:ea typeface="Calibri" pitchFamily="34" charset="-122"/>
                <a:cs typeface="Calibri" pitchFamily="34" charset="-120"/>
              </a:rPr>
              <a:t>HOW I EARNED IT</a:t>
            </a:r>
            <a:endParaRPr lang="en-US" sz="1300" dirty="0"/>
          </a:p>
        </p:txBody>
      </p:sp>
      <p:sp>
        <p:nvSpPr>
          <p:cNvPr id="16" name="Card"/>
          <p:cNvSpPr/>
          <p:nvPr/>
        </p:nvSpPr>
        <p:spPr>
          <a:xfrm>
            <a:off x="548640" y="4251960"/>
            <a:ext cx="2560320" cy="1965960"/>
          </a:xfrm>
          <a:prstGeom prst="roundRect">
            <a:avLst>
              <a:gd name="adj" fmla="val 5581"/>
            </a:avLst>
          </a:prstGeom>
          <a:solidFill>
            <a:srgbClr val="221C18"/>
          </a:solidFill>
          <a:ln w="9525">
            <a:solidFill>
              <a:srgbClr val="3A312A"/>
            </a:solidFill>
            <a:prstDash val="solid"/>
          </a:ln>
        </p:spPr>
      </p:sp>
      <p:sp>
        <p:nvSpPr>
          <p:cNvPr id="17" name="Icon disc"/>
          <p:cNvSpPr/>
          <p:nvPr/>
        </p:nvSpPr>
        <p:spPr>
          <a:xfrm>
            <a:off x="777240" y="4462272"/>
            <a:ext cx="566928" cy="566928"/>
          </a:xfrm>
          <a:prstGeom prst="ellipse">
            <a:avLst/>
          </a:prstGeom>
          <a:solidFill>
            <a:srgbClr val="C8322B"/>
          </a:solidFill>
          <a:ln/>
        </p:spPr>
      </p:sp>
      <p:pic>
        <p:nvPicPr>
          <p:cNvPr id="18" name="Image 0" descr="check icon">    </p:cNvPr>
          <p:cNvPicPr>
            <a:picLocks noChangeAspect="1"/>
          </p:cNvPicPr>
          <p:nvPr/>
        </p:nvPicPr>
        <p:blipFill>
          <a:blip r:embed="rId1"/>
          <a:stretch>
            <a:fillRect/>
          </a:stretch>
        </p:blipFill>
        <p:spPr>
          <a:xfrm>
            <a:off x="913303" y="4598335"/>
            <a:ext cx="294803" cy="294803"/>
          </a:xfrm>
          <a:prstGeom prst="rect">
            <a:avLst/>
          </a:prstGeom>
        </p:spPr>
      </p:pic>
      <p:sp>
        <p:nvSpPr>
          <p:cNvPr id="19" name="Text 15"/>
          <p:cNvSpPr txBox="1"/>
          <p:nvPr/>
        </p:nvSpPr>
        <p:spPr>
          <a:xfrm>
            <a:off x="777240" y="5120640"/>
            <a:ext cx="2194560" cy="365760"/>
          </a:xfrm>
          <a:prstGeom prst="rect">
            <a:avLst/>
          </a:prstGeom>
          <a:noFill/>
          <a:ln/>
        </p:spPr>
        <p:txBody>
          <a:bodyPr wrap="square" lIns="0" tIns="0" rIns="0" bIns="0" rtlCol="0" anchor="ctr"/>
          <a:lstStyle/>
          <a:p>
            <a:pPr indent="0" marL="0">
              <a:buNone/>
            </a:pPr>
            <a:r>
              <a:rPr lang="en-US" sz="2000" b="1" dirty="0">
                <a:solidFill>
                  <a:srgbClr val="F7F1E8"/>
                </a:solidFill>
                <a:latin typeface="Cambria" pitchFamily="34" charset="0"/>
                <a:ea typeface="Cambria" pitchFamily="34" charset="-122"/>
                <a:cs typeface="Cambria" pitchFamily="34" charset="-120"/>
              </a:rPr>
              <a:t>Top marks</a:t>
            </a:r>
            <a:endParaRPr lang="en-US" sz="2000" dirty="0"/>
          </a:p>
        </p:txBody>
      </p:sp>
      <p:sp>
        <p:nvSpPr>
          <p:cNvPr id="20" name="Text 16"/>
          <p:cNvSpPr txBox="1"/>
          <p:nvPr/>
        </p:nvSpPr>
        <p:spPr>
          <a:xfrm>
            <a:off x="777240" y="5486400"/>
            <a:ext cx="2194560" cy="640080"/>
          </a:xfrm>
          <a:prstGeom prst="rect">
            <a:avLst/>
          </a:prstGeom>
          <a:noFill/>
          <a:ln/>
        </p:spPr>
        <p:txBody>
          <a:bodyPr wrap="square" lIns="0" tIns="0" rIns="0" bIns="0" rtlCol="0" anchor="t"/>
          <a:lstStyle/>
          <a:p>
            <a:pPr indent="0" marL="0">
              <a:buNone/>
            </a:pPr>
            <a:r>
              <a:rPr lang="en-US" sz="1400" dirty="0">
                <a:solidFill>
                  <a:srgbClr val="B9AEA0"/>
                </a:solidFill>
                <a:latin typeface="Calibri" pitchFamily="34" charset="0"/>
                <a:ea typeface="Calibri" pitchFamily="34" charset="-122"/>
                <a:cs typeface="Calibri" pitchFamily="34" charset="-120"/>
              </a:rPr>
              <a:t>Highest marks in my major's department</a:t>
            </a:r>
            <a:endParaRPr lang="en-US" sz="1400" dirty="0"/>
          </a:p>
        </p:txBody>
      </p:sp>
      <p:sp>
        <p:nvSpPr>
          <p:cNvPr id="21" name="Card"/>
          <p:cNvSpPr/>
          <p:nvPr/>
        </p:nvSpPr>
        <p:spPr>
          <a:xfrm>
            <a:off x="3392424" y="4251960"/>
            <a:ext cx="2560320" cy="1965960"/>
          </a:xfrm>
          <a:prstGeom prst="roundRect">
            <a:avLst>
              <a:gd name="adj" fmla="val 5581"/>
            </a:avLst>
          </a:prstGeom>
          <a:solidFill>
            <a:srgbClr val="221C18"/>
          </a:solidFill>
          <a:ln w="9525">
            <a:solidFill>
              <a:srgbClr val="3A312A"/>
            </a:solidFill>
            <a:prstDash val="solid"/>
          </a:ln>
        </p:spPr>
      </p:sp>
      <p:sp>
        <p:nvSpPr>
          <p:cNvPr id="22" name="Icon disc"/>
          <p:cNvSpPr/>
          <p:nvPr/>
        </p:nvSpPr>
        <p:spPr>
          <a:xfrm>
            <a:off x="3621024" y="4462272"/>
            <a:ext cx="566928" cy="566928"/>
          </a:xfrm>
          <a:prstGeom prst="ellipse">
            <a:avLst/>
          </a:prstGeom>
          <a:solidFill>
            <a:srgbClr val="C8322B"/>
          </a:solidFill>
          <a:ln/>
        </p:spPr>
      </p:sp>
      <p:pic>
        <p:nvPicPr>
          <p:cNvPr id="23" name="Image 1" descr="teacher icon">    </p:cNvPr>
          <p:cNvPicPr>
            <a:picLocks noChangeAspect="1"/>
          </p:cNvPicPr>
          <p:nvPr/>
        </p:nvPicPr>
        <p:blipFill>
          <a:blip r:embed="rId2"/>
          <a:stretch>
            <a:fillRect/>
          </a:stretch>
        </p:blipFill>
        <p:spPr>
          <a:xfrm>
            <a:off x="3757087" y="4598335"/>
            <a:ext cx="294803" cy="294803"/>
          </a:xfrm>
          <a:prstGeom prst="rect">
            <a:avLst/>
          </a:prstGeom>
        </p:spPr>
      </p:pic>
      <p:sp>
        <p:nvSpPr>
          <p:cNvPr id="24" name="Text 19"/>
          <p:cNvSpPr txBox="1"/>
          <p:nvPr/>
        </p:nvSpPr>
        <p:spPr>
          <a:xfrm>
            <a:off x="3621024" y="5120640"/>
            <a:ext cx="2194560" cy="365760"/>
          </a:xfrm>
          <a:prstGeom prst="rect">
            <a:avLst/>
          </a:prstGeom>
          <a:noFill/>
          <a:ln/>
        </p:spPr>
        <p:txBody>
          <a:bodyPr wrap="square" lIns="0" tIns="0" rIns="0" bIns="0" rtlCol="0" anchor="ctr"/>
          <a:lstStyle/>
          <a:p>
            <a:pPr indent="0" marL="0">
              <a:buNone/>
            </a:pPr>
            <a:r>
              <a:rPr lang="en-US" sz="2000" b="1" dirty="0">
                <a:solidFill>
                  <a:srgbClr val="F7F1E8"/>
                </a:solidFill>
                <a:latin typeface="Cambria" pitchFamily="34" charset="0"/>
                <a:ea typeface="Cambria" pitchFamily="34" charset="-122"/>
                <a:cs typeface="Cambria" pitchFamily="34" charset="-120"/>
              </a:rPr>
              <a:t>Helped teachers</a:t>
            </a:r>
            <a:endParaRPr lang="en-US" sz="2000" dirty="0"/>
          </a:p>
        </p:txBody>
      </p:sp>
      <p:sp>
        <p:nvSpPr>
          <p:cNvPr id="25" name="Text 20"/>
          <p:cNvSpPr txBox="1"/>
          <p:nvPr/>
        </p:nvSpPr>
        <p:spPr>
          <a:xfrm>
            <a:off x="3621024" y="5486400"/>
            <a:ext cx="2194560" cy="640080"/>
          </a:xfrm>
          <a:prstGeom prst="rect">
            <a:avLst/>
          </a:prstGeom>
          <a:noFill/>
          <a:ln/>
        </p:spPr>
        <p:txBody>
          <a:bodyPr wrap="square" lIns="0" tIns="0" rIns="0" bIns="0" rtlCol="0" anchor="t"/>
          <a:lstStyle/>
          <a:p>
            <a:pPr indent="0" marL="0">
              <a:buNone/>
            </a:pPr>
            <a:r>
              <a:rPr lang="en-US" sz="1400" dirty="0">
                <a:solidFill>
                  <a:srgbClr val="B9AEA0"/>
                </a:solidFill>
                <a:latin typeface="Calibri" pitchFamily="34" charset="0"/>
                <a:ea typeface="Calibri" pitchFamily="34" charset="-122"/>
                <a:cs typeface="Calibri" pitchFamily="34" charset="-120"/>
              </a:rPr>
              <a:t>Supported staff, including on 2026 admission day</a:t>
            </a:r>
            <a:endParaRPr lang="en-US" sz="1400" dirty="0"/>
          </a:p>
        </p:txBody>
      </p:sp>
      <p:sp>
        <p:nvSpPr>
          <p:cNvPr id="26" name="Card"/>
          <p:cNvSpPr/>
          <p:nvPr/>
        </p:nvSpPr>
        <p:spPr>
          <a:xfrm>
            <a:off x="6236208" y="4251960"/>
            <a:ext cx="2560320" cy="1965960"/>
          </a:xfrm>
          <a:prstGeom prst="roundRect">
            <a:avLst>
              <a:gd name="adj" fmla="val 5581"/>
            </a:avLst>
          </a:prstGeom>
          <a:solidFill>
            <a:srgbClr val="221C18"/>
          </a:solidFill>
          <a:ln w="9525">
            <a:solidFill>
              <a:srgbClr val="3A312A"/>
            </a:solidFill>
            <a:prstDash val="solid"/>
          </a:ln>
        </p:spPr>
      </p:sp>
      <p:sp>
        <p:nvSpPr>
          <p:cNvPr id="27" name="Icon disc"/>
          <p:cNvSpPr/>
          <p:nvPr/>
        </p:nvSpPr>
        <p:spPr>
          <a:xfrm>
            <a:off x="6464808" y="4462272"/>
            <a:ext cx="566928" cy="566928"/>
          </a:xfrm>
          <a:prstGeom prst="ellipse">
            <a:avLst/>
          </a:prstGeom>
          <a:solidFill>
            <a:srgbClr val="C8322B"/>
          </a:solidFill>
          <a:ln/>
        </p:spPr>
      </p:sp>
      <p:pic>
        <p:nvPicPr>
          <p:cNvPr id="28" name="Image 2" descr="hands icon">    </p:cNvPr>
          <p:cNvPicPr>
            <a:picLocks noChangeAspect="1"/>
          </p:cNvPicPr>
          <p:nvPr/>
        </p:nvPicPr>
        <p:blipFill>
          <a:blip r:embed="rId3"/>
          <a:stretch>
            <a:fillRect/>
          </a:stretch>
        </p:blipFill>
        <p:spPr>
          <a:xfrm>
            <a:off x="6600871" y="4598335"/>
            <a:ext cx="294803" cy="294803"/>
          </a:xfrm>
          <a:prstGeom prst="rect">
            <a:avLst/>
          </a:prstGeom>
        </p:spPr>
      </p:pic>
      <p:sp>
        <p:nvSpPr>
          <p:cNvPr id="29" name="Text 23"/>
          <p:cNvSpPr txBox="1"/>
          <p:nvPr/>
        </p:nvSpPr>
        <p:spPr>
          <a:xfrm>
            <a:off x="6464808" y="5120640"/>
            <a:ext cx="2194560" cy="365760"/>
          </a:xfrm>
          <a:prstGeom prst="rect">
            <a:avLst/>
          </a:prstGeom>
          <a:noFill/>
          <a:ln/>
        </p:spPr>
        <p:txBody>
          <a:bodyPr wrap="square" lIns="0" tIns="0" rIns="0" bIns="0" rtlCol="0" anchor="ctr"/>
          <a:lstStyle/>
          <a:p>
            <a:pPr indent="0" marL="0">
              <a:buNone/>
            </a:pPr>
            <a:r>
              <a:rPr lang="en-US" sz="2000" b="1" dirty="0">
                <a:solidFill>
                  <a:srgbClr val="F7F1E8"/>
                </a:solidFill>
                <a:latin typeface="Cambria" pitchFamily="34" charset="0"/>
                <a:ea typeface="Cambria" pitchFamily="34" charset="-122"/>
                <a:cs typeface="Cambria" pitchFamily="34" charset="-120"/>
              </a:rPr>
              <a:t>Volunteered</a:t>
            </a:r>
            <a:endParaRPr lang="en-US" sz="2000" dirty="0"/>
          </a:p>
        </p:txBody>
      </p:sp>
      <p:sp>
        <p:nvSpPr>
          <p:cNvPr id="30" name="Text 24"/>
          <p:cNvSpPr txBox="1"/>
          <p:nvPr/>
        </p:nvSpPr>
        <p:spPr>
          <a:xfrm>
            <a:off x="6464808" y="5486400"/>
            <a:ext cx="2194560" cy="640080"/>
          </a:xfrm>
          <a:prstGeom prst="rect">
            <a:avLst/>
          </a:prstGeom>
          <a:noFill/>
          <a:ln/>
        </p:spPr>
        <p:txBody>
          <a:bodyPr wrap="square" lIns="0" tIns="0" rIns="0" bIns="0" rtlCol="0" anchor="t"/>
          <a:lstStyle/>
          <a:p>
            <a:pPr indent="0" marL="0">
              <a:buNone/>
            </a:pPr>
            <a:r>
              <a:rPr lang="en-US" sz="1400" dirty="0">
                <a:solidFill>
                  <a:srgbClr val="B9AEA0"/>
                </a:solidFill>
                <a:latin typeface="Calibri" pitchFamily="34" charset="0"/>
                <a:ea typeface="Calibri" pitchFamily="34" charset="-122"/>
                <a:cs typeface="Calibri" pitchFamily="34" charset="-120"/>
              </a:rPr>
              <a:t>Took part in university programs and events</a:t>
            </a:r>
            <a:endParaRPr lang="en-US" sz="1400" dirty="0"/>
          </a:p>
        </p:txBody>
      </p:sp>
      <p:sp>
        <p:nvSpPr>
          <p:cNvPr id="31" name="Card"/>
          <p:cNvSpPr/>
          <p:nvPr/>
        </p:nvSpPr>
        <p:spPr>
          <a:xfrm>
            <a:off x="9079992" y="4251960"/>
            <a:ext cx="2560320" cy="1965960"/>
          </a:xfrm>
          <a:prstGeom prst="roundRect">
            <a:avLst>
              <a:gd name="adj" fmla="val 5581"/>
            </a:avLst>
          </a:prstGeom>
          <a:solidFill>
            <a:srgbClr val="221C18"/>
          </a:solidFill>
          <a:ln w="9525">
            <a:solidFill>
              <a:srgbClr val="3A312A"/>
            </a:solidFill>
            <a:prstDash val="solid"/>
          </a:ln>
        </p:spPr>
      </p:sp>
      <p:sp>
        <p:nvSpPr>
          <p:cNvPr id="32" name="Icon disc"/>
          <p:cNvSpPr/>
          <p:nvPr/>
        </p:nvSpPr>
        <p:spPr>
          <a:xfrm>
            <a:off x="9308592" y="4462272"/>
            <a:ext cx="566928" cy="566928"/>
          </a:xfrm>
          <a:prstGeom prst="ellipse">
            <a:avLst/>
          </a:prstGeom>
          <a:solidFill>
            <a:srgbClr val="C8322B"/>
          </a:solidFill>
          <a:ln/>
        </p:spPr>
      </p:sp>
      <p:pic>
        <p:nvPicPr>
          <p:cNvPr id="33" name="Image 3" descr="mic icon">    </p:cNvPr>
          <p:cNvPicPr>
            <a:picLocks noChangeAspect="1"/>
          </p:cNvPicPr>
          <p:nvPr/>
        </p:nvPicPr>
        <p:blipFill>
          <a:blip r:embed="rId4"/>
          <a:stretch>
            <a:fillRect/>
          </a:stretch>
        </p:blipFill>
        <p:spPr>
          <a:xfrm>
            <a:off x="9444655" y="4598335"/>
            <a:ext cx="294803" cy="294803"/>
          </a:xfrm>
          <a:prstGeom prst="rect">
            <a:avLst/>
          </a:prstGeom>
        </p:spPr>
      </p:pic>
      <p:sp>
        <p:nvSpPr>
          <p:cNvPr id="34" name="Text 27"/>
          <p:cNvSpPr txBox="1"/>
          <p:nvPr/>
        </p:nvSpPr>
        <p:spPr>
          <a:xfrm>
            <a:off x="9308592" y="5120640"/>
            <a:ext cx="2194560" cy="365760"/>
          </a:xfrm>
          <a:prstGeom prst="rect">
            <a:avLst/>
          </a:prstGeom>
          <a:noFill/>
          <a:ln/>
        </p:spPr>
        <p:txBody>
          <a:bodyPr wrap="square" lIns="0" tIns="0" rIns="0" bIns="0" rtlCol="0" anchor="ctr"/>
          <a:lstStyle/>
          <a:p>
            <a:pPr indent="0" marL="0">
              <a:buNone/>
            </a:pPr>
            <a:r>
              <a:rPr lang="en-US" sz="2000" b="1" dirty="0">
                <a:solidFill>
                  <a:srgbClr val="F7F1E8"/>
                </a:solidFill>
                <a:latin typeface="Cambria" pitchFamily="34" charset="0"/>
                <a:ea typeface="Cambria" pitchFamily="34" charset="-122"/>
                <a:cs typeface="Cambria" pitchFamily="34" charset="-120"/>
              </a:rPr>
              <a:t>Hosted events</a:t>
            </a:r>
            <a:endParaRPr lang="en-US" sz="2000" dirty="0"/>
          </a:p>
        </p:txBody>
      </p:sp>
      <p:sp>
        <p:nvSpPr>
          <p:cNvPr id="35" name="Text 28"/>
          <p:cNvSpPr txBox="1"/>
          <p:nvPr/>
        </p:nvSpPr>
        <p:spPr>
          <a:xfrm>
            <a:off x="9308592" y="5486400"/>
            <a:ext cx="2194560" cy="640080"/>
          </a:xfrm>
          <a:prstGeom prst="rect">
            <a:avLst/>
          </a:prstGeom>
          <a:noFill/>
          <a:ln/>
        </p:spPr>
        <p:txBody>
          <a:bodyPr wrap="square" lIns="0" tIns="0" rIns="0" bIns="0" rtlCol="0" anchor="t"/>
          <a:lstStyle/>
          <a:p>
            <a:pPr indent="0" marL="0">
              <a:buNone/>
            </a:pPr>
            <a:r>
              <a:rPr lang="en-US" sz="1400" dirty="0">
                <a:solidFill>
                  <a:srgbClr val="B9AEA0"/>
                </a:solidFill>
                <a:latin typeface="Calibri" pitchFamily="34" charset="0"/>
                <a:ea typeface="Calibri" pitchFamily="34" charset="-122"/>
                <a:cs typeface="Calibri" pitchFamily="34" charset="-120"/>
              </a:rPr>
              <a:t>Hosted Chinese events, incl. the Mid-Autumn Festival</a:t>
            </a:r>
            <a:endParaRPr lang="en-US" sz="14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10F"/>
        </a:solidFill>
      </p:bgPr>
    </p:bg>
    <p:spTree>
      <p:nvGrpSpPr>
        <p:cNvPr id="1" name=""/>
        <p:cNvGrpSpPr/>
        <p:nvPr/>
      </p:nvGrpSpPr>
      <p:grpSpPr>
        <a:xfrm>
          <a:off x="0" y="0"/>
          <a:ext cx="0" cy="0"/>
          <a:chOff x="0" y="0"/>
          <a:chExt cx="0" cy="0"/>
        </a:xfrm>
      </p:grpSpPr>
      <p:sp>
        <p:nvSpPr>
          <p:cNvPr id="2" name="Seal"/>
          <p:cNvSpPr/>
          <p:nvPr/>
        </p:nvSpPr>
        <p:spPr>
          <a:xfrm>
            <a:off x="548640" y="457200"/>
            <a:ext cx="566928" cy="566928"/>
          </a:xfrm>
          <a:prstGeom prst="roundRect">
            <a:avLst>
              <a:gd name="adj" fmla="val 9677"/>
            </a:avLst>
          </a:prstGeom>
          <a:solidFill>
            <a:srgbClr val="C8322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356" b="1" dirty="0">
                <a:solidFill>
                  <a:srgbClr val="FFFFFF"/>
                </a:solidFill>
                <a:latin typeface="Microsoft YaHei" pitchFamily="34" charset="0"/>
                <a:ea typeface="Microsoft YaHei" pitchFamily="34" charset="-122"/>
                <a:cs typeface="Microsoft YaHei" pitchFamily="34" charset="-120"/>
              </a:rPr>
              <a:t>语</a:t>
            </a:r>
            <a:endParaRPr lang="en-US" sz="2356" dirty="0"/>
          </a:p>
        </p:txBody>
      </p:sp>
      <p:sp>
        <p:nvSpPr>
          <p:cNvPr id="4" name="Text 2"/>
          <p:cNvSpPr txBox="1"/>
          <p:nvPr/>
        </p:nvSpPr>
        <p:spPr>
          <a:xfrm>
            <a:off x="1280160" y="457200"/>
            <a:ext cx="8229600" cy="566928"/>
          </a:xfrm>
          <a:prstGeom prst="rect">
            <a:avLst/>
          </a:prstGeom>
          <a:noFill/>
          <a:ln/>
        </p:spPr>
        <p:txBody>
          <a:bodyPr wrap="square" lIns="0" tIns="0" rIns="0" bIns="0" rtlCol="0" anchor="ctr"/>
          <a:lstStyle/>
          <a:p>
            <a:pPr indent="0" marL="0">
              <a:buNone/>
            </a:pPr>
            <a:r>
              <a:rPr lang="en-US" sz="1300" b="1" spc="300" kern="0" dirty="0">
                <a:solidFill>
                  <a:srgbClr val="E0B25A"/>
                </a:solidFill>
                <a:latin typeface="Calibri" pitchFamily="34" charset="0"/>
                <a:ea typeface="Calibri" pitchFamily="34" charset="-122"/>
                <a:cs typeface="Calibri" pitchFamily="34" charset="-120"/>
              </a:rPr>
              <a:t>1 · ACADEMIC ACHIEVEMENTS</a:t>
            </a:r>
            <a:endParaRPr lang="en-US" sz="1300" dirty="0"/>
          </a:p>
        </p:txBody>
      </p:sp>
      <p:sp>
        <p:nvSpPr>
          <p:cNvPr id="5" name="Text 3"/>
          <p:cNvSpPr txBox="1"/>
          <p:nvPr/>
        </p:nvSpPr>
        <p:spPr>
          <a:xfrm>
            <a:off x="548640" y="1097280"/>
            <a:ext cx="11094415" cy="777240"/>
          </a:xfrm>
          <a:prstGeom prst="rect">
            <a:avLst/>
          </a:prstGeom>
          <a:noFill/>
          <a:ln/>
        </p:spPr>
        <p:txBody>
          <a:bodyPr wrap="square" lIns="0" tIns="0" rIns="0" bIns="0" rtlCol="0" anchor="ctr"/>
          <a:lstStyle/>
          <a:p>
            <a:pPr indent="0" marL="0">
              <a:buNone/>
            </a:pPr>
            <a:r>
              <a:rPr lang="en-US" sz="3800" b="1" dirty="0">
                <a:solidFill>
                  <a:srgbClr val="F7F1E8"/>
                </a:solidFill>
                <a:latin typeface="Cambria" pitchFamily="34" charset="0"/>
                <a:ea typeface="Cambria" pitchFamily="34" charset="-122"/>
                <a:cs typeface="Cambria" pitchFamily="34" charset="-120"/>
              </a:rPr>
              <a:t>HSK 3 within a year</a:t>
            </a:r>
            <a:endParaRPr lang="en-US" sz="3800" dirty="0"/>
          </a:p>
        </p:txBody>
      </p:sp>
      <p:sp>
        <p:nvSpPr>
          <p:cNvPr id="6"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B9AEA0"/>
                </a:solidFill>
                <a:latin typeface="Calibri" pitchFamily="34" charset="0"/>
                <a:ea typeface="Calibri" pitchFamily="34" charset="-122"/>
                <a:cs typeface="Calibri" pitchFamily="34" charset="-120"/>
              </a:rPr>
              <a:t>Jubair Md Ariful Islam · 王子</a:t>
            </a:r>
            <a:endParaRPr lang="en-US" sz="1000" dirty="0"/>
          </a:p>
        </p:txBody>
      </p:sp>
      <p:sp>
        <p:nvSpPr>
          <p:cNvPr id="7" name="Text 5"/>
          <p:cNvSpPr txBox="1"/>
          <p:nvPr/>
        </p:nvSpPr>
        <p:spPr>
          <a:xfrm>
            <a:off x="9814255" y="6400800"/>
            <a:ext cx="1828800" cy="274320"/>
          </a:xfrm>
          <a:prstGeom prst="rect">
            <a:avLst/>
          </a:prstGeom>
          <a:noFill/>
          <a:ln/>
        </p:spPr>
        <p:txBody>
          <a:bodyPr wrap="square" lIns="0" tIns="0" rIns="0" bIns="0" rtlCol="0" anchor="ctr"/>
          <a:lstStyle/>
          <a:p>
            <a:pPr algn="r" indent="0" marL="0">
              <a:buNone/>
            </a:pPr>
            <a:r>
              <a:rPr lang="en-US" sz="1000" dirty="0">
                <a:solidFill>
                  <a:srgbClr val="B9AEA0"/>
                </a:solidFill>
                <a:latin typeface="Calibri" pitchFamily="34" charset="0"/>
                <a:ea typeface="Calibri" pitchFamily="34" charset="-122"/>
                <a:cs typeface="Calibri" pitchFamily="34" charset="-120"/>
              </a:rPr>
              <a:t>04 / 11</a:t>
            </a:r>
            <a:endParaRPr lang="en-US" sz="1000" dirty="0"/>
          </a:p>
        </p:txBody>
      </p:sp>
      <p:sp>
        <p:nvSpPr>
          <p:cNvPr id="9" name="Text 6"/>
          <p:cNvSpPr txBox="1"/>
          <p:nvPr/>
        </p:nvSpPr>
        <p:spPr>
          <a:xfrm>
            <a:off x="548640" y="2011680"/>
            <a:ext cx="6035040" cy="1280160"/>
          </a:xfrm>
          <a:prstGeom prst="rect">
            <a:avLst/>
          </a:prstGeom>
          <a:noFill/>
          <a:ln/>
        </p:spPr>
        <p:txBody>
          <a:bodyPr wrap="square" lIns="0" tIns="0" rIns="0" bIns="0" rtlCol="0" anchor="ctr"/>
          <a:lstStyle/>
          <a:p>
            <a:pPr indent="0" marL="0">
              <a:buNone/>
            </a:pPr>
            <a:r>
              <a:rPr lang="en-US" sz="9600" b="1" dirty="0">
                <a:solidFill>
                  <a:srgbClr val="E0B25A"/>
                </a:solidFill>
                <a:latin typeface="Cambria" pitchFamily="34" charset="0"/>
                <a:ea typeface="Cambria" pitchFamily="34" charset="-122"/>
                <a:cs typeface="Cambria" pitchFamily="34" charset="-120"/>
              </a:rPr>
              <a:t>250</a:t>
            </a:r>
            <a:pPr indent="0" marL="0">
              <a:buNone/>
            </a:pPr>
            <a:r>
              <a:rPr lang="en-US" sz="3600" dirty="0">
                <a:solidFill>
                  <a:srgbClr val="B9AEA0"/>
                </a:solidFill>
                <a:latin typeface="Cambria" pitchFamily="34" charset="0"/>
                <a:ea typeface="Cambria" pitchFamily="34" charset="-122"/>
                <a:cs typeface="Cambria" pitchFamily="34" charset="-120"/>
              </a:rPr>
              <a:t> / 300</a:t>
            </a:r>
            <a:endParaRPr lang="en-US" sz="9600" dirty="0"/>
          </a:p>
        </p:txBody>
      </p:sp>
      <p:sp>
        <p:nvSpPr>
          <p:cNvPr id="10" name="Text 7"/>
          <p:cNvSpPr txBox="1"/>
          <p:nvPr/>
        </p:nvSpPr>
        <p:spPr>
          <a:xfrm>
            <a:off x="548640" y="3291840"/>
            <a:ext cx="6217920" cy="365760"/>
          </a:xfrm>
          <a:prstGeom prst="rect">
            <a:avLst/>
          </a:prstGeom>
          <a:noFill/>
          <a:ln/>
        </p:spPr>
        <p:txBody>
          <a:bodyPr wrap="square" lIns="0" tIns="0" rIns="0" bIns="0" rtlCol="0" anchor="ctr"/>
          <a:lstStyle/>
          <a:p>
            <a:pPr indent="0" marL="0">
              <a:buNone/>
            </a:pPr>
            <a:r>
              <a:rPr lang="en-US" sz="1500" dirty="0">
                <a:solidFill>
                  <a:srgbClr val="F7F1E8"/>
                </a:solidFill>
                <a:latin typeface="Calibri" pitchFamily="34" charset="0"/>
                <a:ea typeface="Calibri" pitchFamily="34" charset="-122"/>
                <a:cs typeface="Calibri" pitchFamily="34" charset="-120"/>
              </a:rPr>
              <a:t>HSK Level 3 total score · pass mark 180 · tested 16 May 2026</a:t>
            </a:r>
            <a:endParaRPr lang="en-US" sz="1500" dirty="0"/>
          </a:p>
        </p:txBody>
      </p:sp>
      <p:sp>
        <p:nvSpPr>
          <p:cNvPr id="11" name="Icon disc"/>
          <p:cNvSpPr/>
          <p:nvPr/>
        </p:nvSpPr>
        <p:spPr>
          <a:xfrm>
            <a:off x="548640" y="3977640"/>
            <a:ext cx="502920" cy="502920"/>
          </a:xfrm>
          <a:prstGeom prst="ellipse">
            <a:avLst/>
          </a:prstGeom>
          <a:solidFill>
            <a:srgbClr val="C8322B"/>
          </a:solidFill>
          <a:ln/>
        </p:spPr>
      </p:sp>
      <p:pic>
        <p:nvPicPr>
          <p:cNvPr id="12" name="Image 0" descr="check icon">    </p:cNvPr>
          <p:cNvPicPr>
            <a:picLocks noChangeAspect="1"/>
          </p:cNvPicPr>
          <p:nvPr/>
        </p:nvPicPr>
        <p:blipFill>
          <a:blip r:embed="rId1"/>
          <a:stretch>
            <a:fillRect/>
          </a:stretch>
        </p:blipFill>
        <p:spPr>
          <a:xfrm>
            <a:off x="669341" y="4098341"/>
            <a:ext cx="261518" cy="261518"/>
          </a:xfrm>
          <a:prstGeom prst="rect">
            <a:avLst/>
          </a:prstGeom>
        </p:spPr>
      </p:pic>
      <p:sp>
        <p:nvSpPr>
          <p:cNvPr id="13" name="Text 9"/>
          <p:cNvSpPr txBox="1"/>
          <p:nvPr/>
        </p:nvSpPr>
        <p:spPr>
          <a:xfrm>
            <a:off x="1280160" y="3977640"/>
            <a:ext cx="5303520" cy="502920"/>
          </a:xfrm>
          <a:prstGeom prst="rect">
            <a:avLst/>
          </a:prstGeom>
          <a:noFill/>
          <a:ln/>
        </p:spPr>
        <p:txBody>
          <a:bodyPr wrap="square" lIns="0" tIns="0" rIns="0" bIns="0" rtlCol="0" anchor="ctr"/>
          <a:lstStyle/>
          <a:p>
            <a:pPr indent="0" marL="0">
              <a:buNone/>
            </a:pPr>
            <a:r>
              <a:rPr lang="en-US" sz="1600" dirty="0">
                <a:solidFill>
                  <a:srgbClr val="F7F1E8"/>
                </a:solidFill>
                <a:latin typeface="Calibri" pitchFamily="34" charset="0"/>
                <a:ea typeface="Calibri" pitchFamily="34" charset="-122"/>
                <a:cs typeface="Calibri" pitchFamily="34" charset="-120"/>
              </a:rPr>
              <a:t>Listening 95 and Reading 94: top-tier results</a:t>
            </a:r>
            <a:endParaRPr lang="en-US" sz="1600" dirty="0"/>
          </a:p>
        </p:txBody>
      </p:sp>
      <p:sp>
        <p:nvSpPr>
          <p:cNvPr id="14" name="Icon disc"/>
          <p:cNvSpPr/>
          <p:nvPr/>
        </p:nvSpPr>
        <p:spPr>
          <a:xfrm>
            <a:off x="548640" y="4754880"/>
            <a:ext cx="502920" cy="502920"/>
          </a:xfrm>
          <a:prstGeom prst="ellipse">
            <a:avLst/>
          </a:prstGeom>
          <a:solidFill>
            <a:srgbClr val="C8322B"/>
          </a:solidFill>
          <a:ln/>
        </p:spPr>
      </p:sp>
      <p:pic>
        <p:nvPicPr>
          <p:cNvPr id="15" name="Image 1" descr="mic icon">    </p:cNvPr>
          <p:cNvPicPr>
            <a:picLocks noChangeAspect="1"/>
          </p:cNvPicPr>
          <p:nvPr/>
        </p:nvPicPr>
        <p:blipFill>
          <a:blip r:embed="rId2"/>
          <a:stretch>
            <a:fillRect/>
          </a:stretch>
        </p:blipFill>
        <p:spPr>
          <a:xfrm>
            <a:off x="669341" y="4875581"/>
            <a:ext cx="261518" cy="261518"/>
          </a:xfrm>
          <a:prstGeom prst="rect">
            <a:avLst/>
          </a:prstGeom>
        </p:spPr>
      </p:pic>
      <p:sp>
        <p:nvSpPr>
          <p:cNvPr id="16" name="Text 11"/>
          <p:cNvSpPr txBox="1"/>
          <p:nvPr/>
        </p:nvSpPr>
        <p:spPr>
          <a:xfrm>
            <a:off x="1280160" y="4754880"/>
            <a:ext cx="5303520" cy="502920"/>
          </a:xfrm>
          <a:prstGeom prst="rect">
            <a:avLst/>
          </a:prstGeom>
          <a:noFill/>
          <a:ln/>
        </p:spPr>
        <p:txBody>
          <a:bodyPr wrap="square" lIns="0" tIns="0" rIns="0" bIns="0" rtlCol="0" anchor="ctr"/>
          <a:lstStyle/>
          <a:p>
            <a:pPr indent="0" marL="0">
              <a:buNone/>
            </a:pPr>
            <a:r>
              <a:rPr lang="en-US" sz="1600" dirty="0">
                <a:solidFill>
                  <a:srgbClr val="F7F1E8"/>
                </a:solidFill>
                <a:latin typeface="Calibri" pitchFamily="34" charset="0"/>
                <a:ea typeface="Calibri" pitchFamily="34" charset="-122"/>
                <a:cs typeface="Calibri" pitchFamily="34" charset="-120"/>
              </a:rPr>
              <a:t>Used every day: in class, on stage and in service</a:t>
            </a:r>
            <a:endParaRPr lang="en-US" sz="1600" dirty="0"/>
          </a:p>
        </p:txBody>
      </p:sp>
      <p:sp>
        <p:nvSpPr>
          <p:cNvPr id="17" name="Icon disc"/>
          <p:cNvSpPr/>
          <p:nvPr/>
        </p:nvSpPr>
        <p:spPr>
          <a:xfrm>
            <a:off x="548640" y="5532120"/>
            <a:ext cx="502920" cy="502920"/>
          </a:xfrm>
          <a:prstGeom prst="ellipse">
            <a:avLst/>
          </a:prstGeom>
          <a:solidFill>
            <a:srgbClr val="C8322B"/>
          </a:solidFill>
          <a:ln/>
        </p:spPr>
      </p:sp>
      <p:pic>
        <p:nvPicPr>
          <p:cNvPr id="18" name="Image 2" descr="route icon">    </p:cNvPr>
          <p:cNvPicPr>
            <a:picLocks noChangeAspect="1"/>
          </p:cNvPicPr>
          <p:nvPr/>
        </p:nvPicPr>
        <p:blipFill>
          <a:blip r:embed="rId3"/>
          <a:stretch>
            <a:fillRect/>
          </a:stretch>
        </p:blipFill>
        <p:spPr>
          <a:xfrm>
            <a:off x="669341" y="5652821"/>
            <a:ext cx="261518" cy="261518"/>
          </a:xfrm>
          <a:prstGeom prst="rect">
            <a:avLst/>
          </a:prstGeom>
        </p:spPr>
      </p:pic>
      <p:sp>
        <p:nvSpPr>
          <p:cNvPr id="19" name="Text 13"/>
          <p:cNvSpPr txBox="1"/>
          <p:nvPr/>
        </p:nvSpPr>
        <p:spPr>
          <a:xfrm>
            <a:off x="1280160" y="5532120"/>
            <a:ext cx="5303520" cy="502920"/>
          </a:xfrm>
          <a:prstGeom prst="rect">
            <a:avLst/>
          </a:prstGeom>
          <a:noFill/>
          <a:ln/>
        </p:spPr>
        <p:txBody>
          <a:bodyPr wrap="square" lIns="0" tIns="0" rIns="0" bIns="0" rtlCol="0" anchor="ctr"/>
          <a:lstStyle/>
          <a:p>
            <a:pPr indent="0" marL="0">
              <a:buNone/>
            </a:pPr>
            <a:r>
              <a:rPr lang="en-US" sz="1600" dirty="0">
                <a:solidFill>
                  <a:srgbClr val="F7F1E8"/>
                </a:solidFill>
                <a:latin typeface="Calibri" pitchFamily="34" charset="0"/>
                <a:ea typeface="Calibri" pitchFamily="34" charset="-122"/>
                <a:cs typeface="Calibri" pitchFamily="34" charset="-120"/>
              </a:rPr>
              <a:t>Writing (61) is my next target: I keep practising</a:t>
            </a:r>
            <a:endParaRPr lang="en-US" sz="1600" dirty="0"/>
          </a:p>
        </p:txBody>
      </p:sp>
      <p:pic>
        <p:nvPicPr>
          <p:cNvPr id="20" name="HSK 3 score report excerpt" descr="HSK 3 score report excerpt">    </p:cNvPr>
          <p:cNvPicPr>
            <a:picLocks noChangeAspect="1"/>
          </p:cNvPicPr>
          <p:nvPr/>
        </p:nvPicPr>
        <p:blipFill>
          <a:blip r:embed="rId4"/>
          <a:stretch>
            <a:fillRect/>
          </a:stretch>
        </p:blipFill>
        <p:spPr>
          <a:xfrm>
            <a:off x="7223760" y="2011680"/>
            <a:ext cx="4416552" cy="2450592"/>
          </a:xfrm>
          <a:prstGeom prst="rect">
            <a:avLst/>
          </a:prstGeom>
        </p:spPr>
      </p:pic>
      <p:sp>
        <p:nvSpPr>
          <p:cNvPr id="21" name="Frame HSK 3 score report excerpt"/>
          <p:cNvSpPr/>
          <p:nvPr/>
        </p:nvSpPr>
        <p:spPr>
          <a:xfrm>
            <a:off x="7223760" y="2011680"/>
            <a:ext cx="4416552" cy="2450592"/>
          </a:xfrm>
          <a:prstGeom prst="rect">
            <a:avLst/>
          </a:prstGeom>
          <a:ln w="19050">
            <a:solidFill>
              <a:srgbClr val="E0B25A"/>
            </a:solidFill>
            <a:prstDash val="solid"/>
          </a:ln>
        </p:spPr>
      </p:sp>
      <p:graphicFrame>
        <p:nvGraphicFramePr>
          <p:cNvPr id="22" name="Chart 0" descr=""/>
          <p:cNvGraphicFramePr/>
          <p:nvPr/>
        </p:nvGraphicFramePr>
        <p:xfrm>
          <a:off x="7223760" y="4526280"/>
          <a:ext cx="4416552" cy="1645920"/>
        </p:xfrm>
        <a:graphic xmlns:a="http://schemas.openxmlformats.org/drawingml/2006/main">
          <a:graphicData uri="http://schemas.openxmlformats.org/drawingml/2006/chart">
            <c:chart xmlns:c="http://schemas.openxmlformats.org/drawingml/2006/chart" r:id="rId5"/>
          </a:graphicData>
        </a:graphic>
      </p:graphicFrame>
      <p:sp>
        <p:nvSpPr>
          <p:cNvPr id="23" name="Text 15"/>
          <p:cNvSpPr txBox="1"/>
          <p:nvPr/>
        </p:nvSpPr>
        <p:spPr>
          <a:xfrm>
            <a:off x="7223760" y="6172200"/>
            <a:ext cx="4416552" cy="228600"/>
          </a:xfrm>
          <a:prstGeom prst="rect">
            <a:avLst/>
          </a:prstGeom>
          <a:noFill/>
          <a:ln/>
        </p:spPr>
        <p:txBody>
          <a:bodyPr wrap="square" lIns="0" tIns="0" rIns="0" bIns="0" rtlCol="0" anchor="ctr"/>
          <a:lstStyle/>
          <a:p>
            <a:pPr indent="0" marL="0">
              <a:buNone/>
            </a:pPr>
            <a:r>
              <a:rPr lang="en-US" sz="1000" dirty="0">
                <a:solidFill>
                  <a:srgbClr val="B9AEA0"/>
                </a:solidFill>
                <a:latin typeface="Calibri" pitchFamily="34" charset="0"/>
                <a:ea typeface="Calibri" pitchFamily="34" charset="-122"/>
                <a:cs typeface="Calibri" pitchFamily="34" charset="-120"/>
              </a:rPr>
              <a:t>*Speaking taken at Elementary level (pass mark 60)</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10F"/>
        </a:solidFill>
      </p:bgPr>
    </p:bg>
    <p:spTree>
      <p:nvGrpSpPr>
        <p:cNvPr id="1" name=""/>
        <p:cNvGrpSpPr/>
        <p:nvPr/>
      </p:nvGrpSpPr>
      <p:grpSpPr>
        <a:xfrm>
          <a:off x="0" y="0"/>
          <a:ext cx="0" cy="0"/>
          <a:chOff x="0" y="0"/>
          <a:chExt cx="0" cy="0"/>
        </a:xfrm>
      </p:grpSpPr>
      <p:sp>
        <p:nvSpPr>
          <p:cNvPr id="2" name="Seal"/>
          <p:cNvSpPr/>
          <p:nvPr/>
        </p:nvSpPr>
        <p:spPr>
          <a:xfrm>
            <a:off x="548640" y="457200"/>
            <a:ext cx="566928" cy="566928"/>
          </a:xfrm>
          <a:prstGeom prst="roundRect">
            <a:avLst>
              <a:gd name="adj" fmla="val 9677"/>
            </a:avLst>
          </a:prstGeom>
          <a:solidFill>
            <a:srgbClr val="C8322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356" b="1" dirty="0">
                <a:solidFill>
                  <a:srgbClr val="FFFFFF"/>
                </a:solidFill>
                <a:latin typeface="Microsoft YaHei" pitchFamily="34" charset="0"/>
                <a:ea typeface="Microsoft YaHei" pitchFamily="34" charset="-122"/>
                <a:cs typeface="Microsoft YaHei" pitchFamily="34" charset="-120"/>
              </a:rPr>
              <a:t>研</a:t>
            </a:r>
            <a:endParaRPr lang="en-US" sz="2356" dirty="0"/>
          </a:p>
        </p:txBody>
      </p:sp>
      <p:sp>
        <p:nvSpPr>
          <p:cNvPr id="4" name="Text 2"/>
          <p:cNvSpPr txBox="1"/>
          <p:nvPr/>
        </p:nvSpPr>
        <p:spPr>
          <a:xfrm>
            <a:off x="1280160" y="457200"/>
            <a:ext cx="8229600" cy="566928"/>
          </a:xfrm>
          <a:prstGeom prst="rect">
            <a:avLst/>
          </a:prstGeom>
          <a:noFill/>
          <a:ln/>
        </p:spPr>
        <p:txBody>
          <a:bodyPr wrap="square" lIns="0" tIns="0" rIns="0" bIns="0" rtlCol="0" anchor="ctr"/>
          <a:lstStyle/>
          <a:p>
            <a:pPr indent="0" marL="0">
              <a:buNone/>
            </a:pPr>
            <a:r>
              <a:rPr lang="en-US" sz="1300" b="1" spc="300" kern="0" dirty="0">
                <a:solidFill>
                  <a:srgbClr val="E0B25A"/>
                </a:solidFill>
                <a:latin typeface="Calibri" pitchFamily="34" charset="0"/>
                <a:ea typeface="Calibri" pitchFamily="34" charset="-122"/>
                <a:cs typeface="Calibri" pitchFamily="34" charset="-120"/>
              </a:rPr>
              <a:t>2 · RESEARCH &amp; ACCOMPLISHMENTS</a:t>
            </a:r>
            <a:endParaRPr lang="en-US" sz="1300" dirty="0"/>
          </a:p>
        </p:txBody>
      </p:sp>
      <p:sp>
        <p:nvSpPr>
          <p:cNvPr id="5" name="Text 3"/>
          <p:cNvSpPr txBox="1"/>
          <p:nvPr/>
        </p:nvSpPr>
        <p:spPr>
          <a:xfrm>
            <a:off x="548640" y="1097280"/>
            <a:ext cx="11094415" cy="777240"/>
          </a:xfrm>
          <a:prstGeom prst="rect">
            <a:avLst/>
          </a:prstGeom>
          <a:noFill/>
          <a:ln/>
        </p:spPr>
        <p:txBody>
          <a:bodyPr wrap="square" lIns="0" tIns="0" rIns="0" bIns="0" rtlCol="0" anchor="ctr"/>
          <a:lstStyle/>
          <a:p>
            <a:pPr indent="0" marL="0">
              <a:buNone/>
            </a:pPr>
            <a:r>
              <a:rPr lang="en-US" sz="3800" b="1" dirty="0">
                <a:solidFill>
                  <a:srgbClr val="F7F1E8"/>
                </a:solidFill>
                <a:latin typeface="Cambria" pitchFamily="34" charset="0"/>
                <a:ea typeface="Cambria" pitchFamily="34" charset="-122"/>
                <a:cs typeface="Cambria" pitchFamily="34" charset="-120"/>
              </a:rPr>
              <a:t>Research beyond the classroom</a:t>
            </a:r>
            <a:endParaRPr lang="en-US" sz="3800" dirty="0"/>
          </a:p>
        </p:txBody>
      </p:sp>
      <p:sp>
        <p:nvSpPr>
          <p:cNvPr id="6"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B9AEA0"/>
                </a:solidFill>
                <a:latin typeface="Calibri" pitchFamily="34" charset="0"/>
                <a:ea typeface="Calibri" pitchFamily="34" charset="-122"/>
                <a:cs typeface="Calibri" pitchFamily="34" charset="-120"/>
              </a:rPr>
              <a:t>Jubair Md Ariful Islam · 王子</a:t>
            </a:r>
            <a:endParaRPr lang="en-US" sz="1000" dirty="0"/>
          </a:p>
        </p:txBody>
      </p:sp>
      <p:sp>
        <p:nvSpPr>
          <p:cNvPr id="7" name="Text 5"/>
          <p:cNvSpPr txBox="1"/>
          <p:nvPr/>
        </p:nvSpPr>
        <p:spPr>
          <a:xfrm>
            <a:off x="9814255" y="6400800"/>
            <a:ext cx="1828800" cy="274320"/>
          </a:xfrm>
          <a:prstGeom prst="rect">
            <a:avLst/>
          </a:prstGeom>
          <a:noFill/>
          <a:ln/>
        </p:spPr>
        <p:txBody>
          <a:bodyPr wrap="square" lIns="0" tIns="0" rIns="0" bIns="0" rtlCol="0" anchor="ctr"/>
          <a:lstStyle/>
          <a:p>
            <a:pPr algn="r" indent="0" marL="0">
              <a:buNone/>
            </a:pPr>
            <a:r>
              <a:rPr lang="en-US" sz="1000" dirty="0">
                <a:solidFill>
                  <a:srgbClr val="B9AEA0"/>
                </a:solidFill>
                <a:latin typeface="Calibri" pitchFamily="34" charset="0"/>
                <a:ea typeface="Calibri" pitchFamily="34" charset="-122"/>
                <a:cs typeface="Calibri" pitchFamily="34" charset="-120"/>
              </a:rPr>
              <a:t>05 / 11</a:t>
            </a:r>
            <a:endParaRPr lang="en-US" sz="1000" dirty="0"/>
          </a:p>
        </p:txBody>
      </p:sp>
      <p:sp>
        <p:nvSpPr>
          <p:cNvPr id="9" name="Card"/>
          <p:cNvSpPr/>
          <p:nvPr/>
        </p:nvSpPr>
        <p:spPr>
          <a:xfrm>
            <a:off x="548640" y="2103120"/>
            <a:ext cx="6035040" cy="4114800"/>
          </a:xfrm>
          <a:prstGeom prst="roundRect">
            <a:avLst>
              <a:gd name="adj" fmla="val 2667"/>
            </a:avLst>
          </a:prstGeom>
          <a:solidFill>
            <a:srgbClr val="221C18"/>
          </a:solidFill>
          <a:ln w="9525">
            <a:solidFill>
              <a:srgbClr val="3A312A"/>
            </a:solidFill>
            <a:prstDash val="solid"/>
          </a:ln>
        </p:spPr>
      </p:sp>
      <p:sp>
        <p:nvSpPr>
          <p:cNvPr id="10" name="Status pill"/>
          <p:cNvSpPr/>
          <p:nvPr/>
        </p:nvSpPr>
        <p:spPr>
          <a:xfrm>
            <a:off x="914400" y="2423160"/>
            <a:ext cx="2926080" cy="384048"/>
          </a:xfrm>
          <a:prstGeom prst="roundRect">
            <a:avLst>
              <a:gd name="adj" fmla="val 47619"/>
            </a:avLst>
          </a:prstGeom>
          <a:solidFill>
            <a:srgbClr val="C8322B"/>
          </a:solidFill>
          <a:ln/>
        </p:spPr>
      </p:sp>
      <p:sp>
        <p:nvSpPr>
          <p:cNvPr id="11" name="Text 8"/>
          <p:cNvSpPr txBox="1"/>
          <p:nvPr/>
        </p:nvSpPr>
        <p:spPr>
          <a:xfrm>
            <a:off x="914400" y="2423160"/>
            <a:ext cx="292608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UNDER PEER REVIEW</a:t>
            </a:r>
            <a:endParaRPr lang="en-US" sz="1200" dirty="0"/>
          </a:p>
        </p:txBody>
      </p:sp>
      <p:sp>
        <p:nvSpPr>
          <p:cNvPr id="12" name="Text 9"/>
          <p:cNvSpPr txBox="1"/>
          <p:nvPr/>
        </p:nvSpPr>
        <p:spPr>
          <a:xfrm>
            <a:off x="914400" y="3017520"/>
            <a:ext cx="5394960" cy="1737360"/>
          </a:xfrm>
          <a:prstGeom prst="rect">
            <a:avLst/>
          </a:prstGeom>
          <a:noFill/>
          <a:ln/>
        </p:spPr>
        <p:txBody>
          <a:bodyPr wrap="square" lIns="0" tIns="0" rIns="0" bIns="0" rtlCol="0" anchor="t"/>
          <a:lstStyle/>
          <a:p>
            <a:pPr indent="0" marL="0">
              <a:buNone/>
            </a:pPr>
            <a:r>
              <a:rPr lang="en-US" sz="2800" b="1" dirty="0">
                <a:solidFill>
                  <a:srgbClr val="F7F1E8"/>
                </a:solidFill>
                <a:latin typeface="Cambria" pitchFamily="34" charset="0"/>
                <a:ea typeface="Cambria" pitchFamily="34" charset="-122"/>
                <a:cs typeface="Cambria" pitchFamily="34" charset="-120"/>
              </a:rPr>
              <a:t>Chinese Mining Foreign Direct Investment in Zambia, 2000–2024</a:t>
            </a:r>
            <a:endParaRPr lang="en-US" sz="2800" dirty="0"/>
          </a:p>
        </p:txBody>
      </p:sp>
      <p:sp>
        <p:nvSpPr>
          <p:cNvPr id="13" name="Text 10"/>
          <p:cNvSpPr txBox="1"/>
          <p:nvPr/>
        </p:nvSpPr>
        <p:spPr>
          <a:xfrm>
            <a:off x="914400" y="4754880"/>
            <a:ext cx="5303520" cy="457200"/>
          </a:xfrm>
          <a:prstGeom prst="rect">
            <a:avLst/>
          </a:prstGeom>
          <a:noFill/>
          <a:ln/>
        </p:spPr>
        <p:txBody>
          <a:bodyPr wrap="square" lIns="0" tIns="0" rIns="0" bIns="0" rtlCol="0" anchor="ctr"/>
          <a:lstStyle/>
          <a:p>
            <a:pPr indent="0" marL="0">
              <a:buNone/>
            </a:pPr>
            <a:r>
              <a:rPr lang="en-US" sz="1500" dirty="0">
                <a:solidFill>
                  <a:srgbClr val="E0B25A"/>
                </a:solidFill>
                <a:latin typeface="Microsoft YaHei" pitchFamily="34" charset="0"/>
                <a:ea typeface="Microsoft YaHei" pitchFamily="34" charset="-122"/>
                <a:cs typeface="Microsoft YaHei" pitchFamily="34" charset="-120"/>
              </a:rPr>
              <a:t>中国在赞比亚采矿业的外国直接投资（2000—2024）</a:t>
            </a:r>
            <a:endParaRPr lang="en-US" sz="1500" dirty="0"/>
          </a:p>
        </p:txBody>
      </p:sp>
      <p:sp>
        <p:nvSpPr>
          <p:cNvPr id="14" name="Text 11"/>
          <p:cNvSpPr txBox="1"/>
          <p:nvPr/>
        </p:nvSpPr>
        <p:spPr>
          <a:xfrm>
            <a:off x="914400" y="5303520"/>
            <a:ext cx="5303520" cy="731520"/>
          </a:xfrm>
          <a:prstGeom prst="rect">
            <a:avLst/>
          </a:prstGeom>
          <a:noFill/>
          <a:ln/>
        </p:spPr>
        <p:txBody>
          <a:bodyPr wrap="square" lIns="0" tIns="0" rIns="0" bIns="0" rtlCol="0" anchor="t"/>
          <a:lstStyle/>
          <a:p>
            <a:pPr indent="0" marL="0">
              <a:buNone/>
            </a:pPr>
            <a:r>
              <a:rPr lang="en-US" sz="1400" i="1" dirty="0">
                <a:solidFill>
                  <a:srgbClr val="B9AEA0"/>
                </a:solidFill>
                <a:latin typeface="Calibri" pitchFamily="34" charset="0"/>
                <a:ea typeface="Calibri" pitchFamily="34" charset="-122"/>
                <a:cs typeface="Calibri" pitchFamily="34" charset="-120"/>
              </a:rPr>
              <a:t>Submitted to International Studies of Economics · completed original research · not yet published</a:t>
            </a:r>
            <a:endParaRPr lang="en-US" sz="1400" dirty="0"/>
          </a:p>
        </p:txBody>
      </p:sp>
      <p:sp>
        <p:nvSpPr>
          <p:cNvPr id="15" name="Text 12"/>
          <p:cNvSpPr txBox="1"/>
          <p:nvPr/>
        </p:nvSpPr>
        <p:spPr>
          <a:xfrm>
            <a:off x="6949440" y="2103120"/>
            <a:ext cx="4663440" cy="320040"/>
          </a:xfrm>
          <a:prstGeom prst="rect">
            <a:avLst/>
          </a:prstGeom>
          <a:noFill/>
          <a:ln/>
        </p:spPr>
        <p:txBody>
          <a:bodyPr wrap="square" lIns="0" tIns="0" rIns="0" bIns="0" rtlCol="0" anchor="ctr"/>
          <a:lstStyle/>
          <a:p>
            <a:pPr indent="0" marL="0">
              <a:buNone/>
            </a:pPr>
            <a:r>
              <a:rPr lang="en-US" sz="1300" b="1" spc="300" kern="0" dirty="0">
                <a:solidFill>
                  <a:srgbClr val="E0B25A"/>
                </a:solidFill>
                <a:latin typeface="Calibri" pitchFamily="34" charset="0"/>
                <a:ea typeface="Calibri" pitchFamily="34" charset="-122"/>
                <a:cs typeface="Calibri" pitchFamily="34" charset="-120"/>
              </a:rPr>
              <a:t>WHAT THE PAPER EXAMINES</a:t>
            </a:r>
            <a:endParaRPr lang="en-US" sz="1300" dirty="0"/>
          </a:p>
        </p:txBody>
      </p:sp>
      <p:sp>
        <p:nvSpPr>
          <p:cNvPr id="16" name="Icon disc"/>
          <p:cNvSpPr/>
          <p:nvPr/>
        </p:nvSpPr>
        <p:spPr>
          <a:xfrm>
            <a:off x="6949440" y="2606040"/>
            <a:ext cx="594360" cy="594360"/>
          </a:xfrm>
          <a:prstGeom prst="ellipse">
            <a:avLst/>
          </a:prstGeom>
          <a:solidFill>
            <a:srgbClr val="C8322B"/>
          </a:solidFill>
          <a:ln/>
        </p:spPr>
      </p:sp>
      <p:pic>
        <p:nvPicPr>
          <p:cNvPr id="17" name="Image 0" descr="chart icon">    </p:cNvPr>
          <p:cNvPicPr>
            <a:picLocks noChangeAspect="1"/>
          </p:cNvPicPr>
          <p:nvPr/>
        </p:nvPicPr>
        <p:blipFill>
          <a:blip r:embed="rId1"/>
          <a:stretch>
            <a:fillRect/>
          </a:stretch>
        </p:blipFill>
        <p:spPr>
          <a:xfrm>
            <a:off x="7092086" y="2748686"/>
            <a:ext cx="309067" cy="309067"/>
          </a:xfrm>
          <a:prstGeom prst="rect">
            <a:avLst/>
          </a:prstGeom>
        </p:spPr>
      </p:pic>
      <p:sp>
        <p:nvSpPr>
          <p:cNvPr id="18" name="Text 14"/>
          <p:cNvSpPr txBox="1"/>
          <p:nvPr/>
        </p:nvSpPr>
        <p:spPr>
          <a:xfrm>
            <a:off x="7772400" y="2606040"/>
            <a:ext cx="3840480" cy="594360"/>
          </a:xfrm>
          <a:prstGeom prst="rect">
            <a:avLst/>
          </a:prstGeom>
          <a:noFill/>
          <a:ln/>
        </p:spPr>
        <p:txBody>
          <a:bodyPr wrap="square" lIns="0" tIns="0" rIns="0" bIns="0" rtlCol="0" anchor="ctr"/>
          <a:lstStyle/>
          <a:p>
            <a:pPr indent="0" marL="0">
              <a:buNone/>
            </a:pPr>
            <a:r>
              <a:rPr lang="en-US" sz="1800" b="1" dirty="0">
                <a:solidFill>
                  <a:srgbClr val="F7F1E8"/>
                </a:solidFill>
                <a:latin typeface="Cambria" pitchFamily="34" charset="0"/>
                <a:ea typeface="Cambria" pitchFamily="34" charset="-122"/>
                <a:cs typeface="Cambria" pitchFamily="34" charset="-120"/>
              </a:rPr>
              <a:t>Commodity cycles</a:t>
            </a:r>
            <a:endParaRPr lang="en-US" sz="1800" dirty="0"/>
          </a:p>
          <a:p>
            <a:pPr indent="0" marL="0">
              <a:buNone/>
            </a:pPr>
            <a:r>
              <a:rPr lang="en-US" sz="1400" dirty="0">
                <a:solidFill>
                  <a:srgbClr val="B9AEA0"/>
                </a:solidFill>
                <a:latin typeface="Calibri" pitchFamily="34" charset="0"/>
                <a:ea typeface="Calibri" pitchFamily="34" charset="-122"/>
                <a:cs typeface="Calibri" pitchFamily="34" charset="-120"/>
              </a:rPr>
              <a:t>How price swings shape investment</a:t>
            </a:r>
            <a:endParaRPr lang="en-US" sz="1800" dirty="0"/>
          </a:p>
        </p:txBody>
      </p:sp>
      <p:sp>
        <p:nvSpPr>
          <p:cNvPr id="19" name="Icon disc"/>
          <p:cNvSpPr/>
          <p:nvPr/>
        </p:nvSpPr>
        <p:spPr>
          <a:xfrm>
            <a:off x="6949440" y="3520440"/>
            <a:ext cx="594360" cy="594360"/>
          </a:xfrm>
          <a:prstGeom prst="ellipse">
            <a:avLst/>
          </a:prstGeom>
          <a:solidFill>
            <a:srgbClr val="C8322B"/>
          </a:solidFill>
          <a:ln/>
        </p:spPr>
      </p:sp>
      <p:pic>
        <p:nvPicPr>
          <p:cNvPr id="20" name="Image 1" descr="globe icon">    </p:cNvPr>
          <p:cNvPicPr>
            <a:picLocks noChangeAspect="1"/>
          </p:cNvPicPr>
          <p:nvPr/>
        </p:nvPicPr>
        <p:blipFill>
          <a:blip r:embed="rId2"/>
          <a:stretch>
            <a:fillRect/>
          </a:stretch>
        </p:blipFill>
        <p:spPr>
          <a:xfrm>
            <a:off x="7092086" y="3663086"/>
            <a:ext cx="309067" cy="309067"/>
          </a:xfrm>
          <a:prstGeom prst="rect">
            <a:avLst/>
          </a:prstGeom>
        </p:spPr>
      </p:pic>
      <p:sp>
        <p:nvSpPr>
          <p:cNvPr id="21" name="Text 16"/>
          <p:cNvSpPr txBox="1"/>
          <p:nvPr/>
        </p:nvSpPr>
        <p:spPr>
          <a:xfrm>
            <a:off x="7772400" y="3520440"/>
            <a:ext cx="3840480" cy="594360"/>
          </a:xfrm>
          <a:prstGeom prst="rect">
            <a:avLst/>
          </a:prstGeom>
          <a:noFill/>
          <a:ln/>
        </p:spPr>
        <p:txBody>
          <a:bodyPr wrap="square" lIns="0" tIns="0" rIns="0" bIns="0" rtlCol="0" anchor="ctr"/>
          <a:lstStyle/>
          <a:p>
            <a:pPr indent="0" marL="0">
              <a:buNone/>
            </a:pPr>
            <a:r>
              <a:rPr lang="en-US" sz="1800" b="1" dirty="0">
                <a:solidFill>
                  <a:srgbClr val="F7F1E8"/>
                </a:solidFill>
                <a:latin typeface="Cambria" pitchFamily="34" charset="0"/>
                <a:ea typeface="Cambria" pitchFamily="34" charset="-122"/>
                <a:cs typeface="Cambria" pitchFamily="34" charset="-120"/>
              </a:rPr>
              <a:t>Belt and Road effects</a:t>
            </a:r>
            <a:endParaRPr lang="en-US" sz="1800" dirty="0"/>
          </a:p>
          <a:p>
            <a:pPr indent="0" marL="0">
              <a:buNone/>
            </a:pPr>
            <a:r>
              <a:rPr lang="en-US" sz="1400" dirty="0">
                <a:solidFill>
                  <a:srgbClr val="B9AEA0"/>
                </a:solidFill>
                <a:latin typeface="Calibri" pitchFamily="34" charset="0"/>
                <a:ea typeface="Calibri" pitchFamily="34" charset="-122"/>
                <a:cs typeface="Calibri" pitchFamily="34" charset="-120"/>
              </a:rPr>
              <a:t>The influence of the BRI</a:t>
            </a:r>
            <a:endParaRPr lang="en-US" sz="1800" dirty="0"/>
          </a:p>
        </p:txBody>
      </p:sp>
      <p:sp>
        <p:nvSpPr>
          <p:cNvPr id="22" name="Icon disc"/>
          <p:cNvSpPr/>
          <p:nvPr/>
        </p:nvSpPr>
        <p:spPr>
          <a:xfrm>
            <a:off x="6949440" y="4434840"/>
            <a:ext cx="594360" cy="594360"/>
          </a:xfrm>
          <a:prstGeom prst="ellipse">
            <a:avLst/>
          </a:prstGeom>
          <a:solidFill>
            <a:srgbClr val="C8322B"/>
          </a:solidFill>
          <a:ln/>
        </p:spPr>
      </p:sp>
      <p:pic>
        <p:nvPicPr>
          <p:cNvPr id="23" name="Image 2" descr="landmark icon">    </p:cNvPr>
          <p:cNvPicPr>
            <a:picLocks noChangeAspect="1"/>
          </p:cNvPicPr>
          <p:nvPr/>
        </p:nvPicPr>
        <p:blipFill>
          <a:blip r:embed="rId3"/>
          <a:stretch>
            <a:fillRect/>
          </a:stretch>
        </p:blipFill>
        <p:spPr>
          <a:xfrm>
            <a:off x="7092086" y="4577486"/>
            <a:ext cx="309067" cy="309067"/>
          </a:xfrm>
          <a:prstGeom prst="rect">
            <a:avLst/>
          </a:prstGeom>
        </p:spPr>
      </p:pic>
      <p:sp>
        <p:nvSpPr>
          <p:cNvPr id="24" name="Text 18"/>
          <p:cNvSpPr txBox="1"/>
          <p:nvPr/>
        </p:nvSpPr>
        <p:spPr>
          <a:xfrm>
            <a:off x="7772400" y="4434840"/>
            <a:ext cx="3840480" cy="594360"/>
          </a:xfrm>
          <a:prstGeom prst="rect">
            <a:avLst/>
          </a:prstGeom>
          <a:noFill/>
          <a:ln/>
        </p:spPr>
        <p:txBody>
          <a:bodyPr wrap="square" lIns="0" tIns="0" rIns="0" bIns="0" rtlCol="0" anchor="ctr"/>
          <a:lstStyle/>
          <a:p>
            <a:pPr indent="0" marL="0">
              <a:buNone/>
            </a:pPr>
            <a:r>
              <a:rPr lang="en-US" sz="1800" b="1" dirty="0">
                <a:solidFill>
                  <a:srgbClr val="F7F1E8"/>
                </a:solidFill>
                <a:latin typeface="Cambria" pitchFamily="34" charset="0"/>
                <a:ea typeface="Cambria" pitchFamily="34" charset="-122"/>
                <a:cs typeface="Cambria" pitchFamily="34" charset="-120"/>
              </a:rPr>
              <a:t>Institutional determinants</a:t>
            </a:r>
            <a:endParaRPr lang="en-US" sz="1800" dirty="0"/>
          </a:p>
          <a:p>
            <a:pPr indent="0" marL="0">
              <a:buNone/>
            </a:pPr>
            <a:r>
              <a:rPr lang="en-US" sz="1400" dirty="0">
                <a:solidFill>
                  <a:srgbClr val="B9AEA0"/>
                </a:solidFill>
                <a:latin typeface="Calibri" pitchFamily="34" charset="0"/>
                <a:ea typeface="Calibri" pitchFamily="34" charset="-122"/>
                <a:cs typeface="Calibri" pitchFamily="34" charset="-120"/>
              </a:rPr>
              <a:t>Rules and governance that attract capital</a:t>
            </a:r>
            <a:endParaRPr lang="en-US" sz="1800" dirty="0"/>
          </a:p>
        </p:txBody>
      </p:sp>
      <p:sp>
        <p:nvSpPr>
          <p:cNvPr id="25" name="Icon disc"/>
          <p:cNvSpPr/>
          <p:nvPr/>
        </p:nvSpPr>
        <p:spPr>
          <a:xfrm>
            <a:off x="6949440" y="5349240"/>
            <a:ext cx="594360" cy="594360"/>
          </a:xfrm>
          <a:prstGeom prst="ellipse">
            <a:avLst/>
          </a:prstGeom>
          <a:solidFill>
            <a:srgbClr val="C8322B"/>
          </a:solidFill>
          <a:ln/>
        </p:spPr>
      </p:sp>
      <p:pic>
        <p:nvPicPr>
          <p:cNvPr id="26" name="Image 3" descr="industry icon">    </p:cNvPr>
          <p:cNvPicPr>
            <a:picLocks noChangeAspect="1"/>
          </p:cNvPicPr>
          <p:nvPr/>
        </p:nvPicPr>
        <p:blipFill>
          <a:blip r:embed="rId4"/>
          <a:stretch>
            <a:fillRect/>
          </a:stretch>
        </p:blipFill>
        <p:spPr>
          <a:xfrm>
            <a:off x="7092086" y="5491886"/>
            <a:ext cx="309067" cy="309067"/>
          </a:xfrm>
          <a:prstGeom prst="rect">
            <a:avLst/>
          </a:prstGeom>
        </p:spPr>
      </p:pic>
      <p:sp>
        <p:nvSpPr>
          <p:cNvPr id="27" name="Text 20"/>
          <p:cNvSpPr txBox="1"/>
          <p:nvPr/>
        </p:nvSpPr>
        <p:spPr>
          <a:xfrm>
            <a:off x="7772400" y="5349240"/>
            <a:ext cx="3840480" cy="594360"/>
          </a:xfrm>
          <a:prstGeom prst="rect">
            <a:avLst/>
          </a:prstGeom>
          <a:noFill/>
          <a:ln/>
        </p:spPr>
        <p:txBody>
          <a:bodyPr wrap="square" lIns="0" tIns="0" rIns="0" bIns="0" rtlCol="0" anchor="ctr"/>
          <a:lstStyle/>
          <a:p>
            <a:pPr indent="0" marL="0">
              <a:buNone/>
            </a:pPr>
            <a:r>
              <a:rPr lang="en-US" sz="1800" b="1" dirty="0">
                <a:solidFill>
                  <a:srgbClr val="F7F1E8"/>
                </a:solidFill>
                <a:latin typeface="Cambria" pitchFamily="34" charset="0"/>
                <a:ea typeface="Cambria" pitchFamily="34" charset="-122"/>
                <a:cs typeface="Cambria" pitchFamily="34" charset="-120"/>
              </a:rPr>
              <a:t>From state-owned to private</a:t>
            </a:r>
            <a:endParaRPr lang="en-US" sz="1800" dirty="0"/>
          </a:p>
          <a:p>
            <a:pPr indent="0" marL="0">
              <a:buNone/>
            </a:pPr>
            <a:r>
              <a:rPr lang="en-US" sz="1400" dirty="0">
                <a:solidFill>
                  <a:srgbClr val="B9AEA0"/>
                </a:solidFill>
                <a:latin typeface="Calibri" pitchFamily="34" charset="0"/>
                <a:ea typeface="Calibri" pitchFamily="34" charset="-122"/>
                <a:cs typeface="Calibri" pitchFamily="34" charset="-120"/>
              </a:rPr>
              <a:t>The shift in who invests</a:t>
            </a:r>
            <a:endParaRPr lang="en-US" sz="18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10F"/>
        </a:solidFill>
      </p:bgPr>
    </p:bg>
    <p:spTree>
      <p:nvGrpSpPr>
        <p:cNvPr id="1" name=""/>
        <p:cNvGrpSpPr/>
        <p:nvPr/>
      </p:nvGrpSpPr>
      <p:grpSpPr>
        <a:xfrm>
          <a:off x="0" y="0"/>
          <a:ext cx="0" cy="0"/>
          <a:chOff x="0" y="0"/>
          <a:chExt cx="0" cy="0"/>
        </a:xfrm>
      </p:grpSpPr>
      <p:sp>
        <p:nvSpPr>
          <p:cNvPr id="2" name="Seal"/>
          <p:cNvSpPr/>
          <p:nvPr/>
        </p:nvSpPr>
        <p:spPr>
          <a:xfrm>
            <a:off x="548640" y="457200"/>
            <a:ext cx="566928" cy="566928"/>
          </a:xfrm>
          <a:prstGeom prst="roundRect">
            <a:avLst>
              <a:gd name="adj" fmla="val 9677"/>
            </a:avLst>
          </a:prstGeom>
          <a:solidFill>
            <a:srgbClr val="C8322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356" b="1" dirty="0">
                <a:solidFill>
                  <a:srgbClr val="FFFFFF"/>
                </a:solidFill>
                <a:latin typeface="Microsoft YaHei" pitchFamily="34" charset="0"/>
                <a:ea typeface="Microsoft YaHei" pitchFamily="34" charset="-122"/>
                <a:cs typeface="Microsoft YaHei" pitchFamily="34" charset="-120"/>
              </a:rPr>
              <a:t>艺</a:t>
            </a:r>
            <a:endParaRPr lang="en-US" sz="2356" dirty="0"/>
          </a:p>
        </p:txBody>
      </p:sp>
      <p:sp>
        <p:nvSpPr>
          <p:cNvPr id="4" name="Text 2"/>
          <p:cNvSpPr txBox="1"/>
          <p:nvPr/>
        </p:nvSpPr>
        <p:spPr>
          <a:xfrm>
            <a:off x="1280160" y="457200"/>
            <a:ext cx="8229600" cy="566928"/>
          </a:xfrm>
          <a:prstGeom prst="rect">
            <a:avLst/>
          </a:prstGeom>
          <a:noFill/>
          <a:ln/>
        </p:spPr>
        <p:txBody>
          <a:bodyPr wrap="square" lIns="0" tIns="0" rIns="0" bIns="0" rtlCol="0" anchor="ctr"/>
          <a:lstStyle/>
          <a:p>
            <a:pPr indent="0" marL="0">
              <a:buNone/>
            </a:pPr>
            <a:r>
              <a:rPr lang="en-US" sz="1300" b="1" spc="300" kern="0" dirty="0">
                <a:solidFill>
                  <a:srgbClr val="E0B25A"/>
                </a:solidFill>
                <a:latin typeface="Calibri" pitchFamily="34" charset="0"/>
                <a:ea typeface="Calibri" pitchFamily="34" charset="-122"/>
                <a:cs typeface="Calibri" pitchFamily="34" charset="-120"/>
              </a:rPr>
              <a:t>2 · ACCOMPLISHMENTS · INK</a:t>
            </a:r>
            <a:endParaRPr lang="en-US" sz="1300" dirty="0"/>
          </a:p>
        </p:txBody>
      </p:sp>
      <p:sp>
        <p:nvSpPr>
          <p:cNvPr id="5" name="Text 3"/>
          <p:cNvSpPr txBox="1"/>
          <p:nvPr/>
        </p:nvSpPr>
        <p:spPr>
          <a:xfrm>
            <a:off x="548640" y="1097280"/>
            <a:ext cx="11094415" cy="777240"/>
          </a:xfrm>
          <a:prstGeom prst="rect">
            <a:avLst/>
          </a:prstGeom>
          <a:noFill/>
          <a:ln/>
        </p:spPr>
        <p:txBody>
          <a:bodyPr wrap="square" lIns="0" tIns="0" rIns="0" bIns="0" rtlCol="0" anchor="ctr"/>
          <a:lstStyle/>
          <a:p>
            <a:pPr indent="0" marL="0">
              <a:buNone/>
            </a:pPr>
            <a:r>
              <a:rPr lang="en-US" sz="3800" b="1" dirty="0">
                <a:solidFill>
                  <a:srgbClr val="F7F1E8"/>
                </a:solidFill>
                <a:latin typeface="Cambria" pitchFamily="34" charset="0"/>
                <a:ea typeface="Cambria" pitchFamily="34" charset="-122"/>
                <a:cs typeface="Cambria" pitchFamily="34" charset="-120"/>
              </a:rPr>
              <a:t>Provincial calligraphy award · 书法</a:t>
            </a:r>
            <a:endParaRPr lang="en-US" sz="3800" dirty="0"/>
          </a:p>
        </p:txBody>
      </p:sp>
      <p:sp>
        <p:nvSpPr>
          <p:cNvPr id="6"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B9AEA0"/>
                </a:solidFill>
                <a:latin typeface="Calibri" pitchFamily="34" charset="0"/>
                <a:ea typeface="Calibri" pitchFamily="34" charset="-122"/>
                <a:cs typeface="Calibri" pitchFamily="34" charset="-120"/>
              </a:rPr>
              <a:t>Jubair Md Ariful Islam · 王子</a:t>
            </a:r>
            <a:endParaRPr lang="en-US" sz="1000" dirty="0"/>
          </a:p>
        </p:txBody>
      </p:sp>
      <p:sp>
        <p:nvSpPr>
          <p:cNvPr id="7" name="Text 5"/>
          <p:cNvSpPr txBox="1"/>
          <p:nvPr/>
        </p:nvSpPr>
        <p:spPr>
          <a:xfrm>
            <a:off x="9814255" y="6400800"/>
            <a:ext cx="1828800" cy="274320"/>
          </a:xfrm>
          <a:prstGeom prst="rect">
            <a:avLst/>
          </a:prstGeom>
          <a:noFill/>
          <a:ln/>
        </p:spPr>
        <p:txBody>
          <a:bodyPr wrap="square" lIns="0" tIns="0" rIns="0" bIns="0" rtlCol="0" anchor="ctr"/>
          <a:lstStyle/>
          <a:p>
            <a:pPr algn="r" indent="0" marL="0">
              <a:buNone/>
            </a:pPr>
            <a:r>
              <a:rPr lang="en-US" sz="1000" dirty="0">
                <a:solidFill>
                  <a:srgbClr val="B9AEA0"/>
                </a:solidFill>
                <a:latin typeface="Calibri" pitchFamily="34" charset="0"/>
                <a:ea typeface="Calibri" pitchFamily="34" charset="-122"/>
                <a:cs typeface="Calibri" pitchFamily="34" charset="-120"/>
              </a:rPr>
              <a:t>06 / 11</a:t>
            </a:r>
            <a:endParaRPr lang="en-US" sz="1000" dirty="0"/>
          </a:p>
        </p:txBody>
      </p:sp>
      <p:pic>
        <p:nvPicPr>
          <p:cNvPr id="9" name="Honor certificate, Excellent Calligraphy Work" descr="Honor certificate, Excellent Calligraphy Work">    </p:cNvPr>
          <p:cNvPicPr>
            <a:picLocks noChangeAspect="1"/>
          </p:cNvPicPr>
          <p:nvPr/>
        </p:nvPicPr>
        <p:blipFill>
          <a:blip r:embed="rId1"/>
          <a:stretch>
            <a:fillRect/>
          </a:stretch>
        </p:blipFill>
        <p:spPr>
          <a:xfrm>
            <a:off x="548640" y="2103120"/>
            <a:ext cx="3154680" cy="4206240"/>
          </a:xfrm>
          <a:prstGeom prst="rect">
            <a:avLst/>
          </a:prstGeom>
        </p:spPr>
      </p:pic>
      <p:sp>
        <p:nvSpPr>
          <p:cNvPr id="10" name="Frame Honor certificate, Excellent Calligraphy Work"/>
          <p:cNvSpPr/>
          <p:nvPr/>
        </p:nvSpPr>
        <p:spPr>
          <a:xfrm>
            <a:off x="548640" y="2103120"/>
            <a:ext cx="3154680" cy="4206240"/>
          </a:xfrm>
          <a:prstGeom prst="rect">
            <a:avLst/>
          </a:prstGeom>
          <a:ln w="19050">
            <a:solidFill>
              <a:srgbClr val="E0B25A"/>
            </a:solidFill>
            <a:prstDash val="solid"/>
          </a:ln>
        </p:spPr>
      </p:sp>
      <p:pic>
        <p:nvPicPr>
          <p:cNvPr id="11" name="Award ceremony with honor certificates" descr="Award ceremony with honor certificates">    </p:cNvPr>
          <p:cNvPicPr>
            <a:picLocks noChangeAspect="1"/>
          </p:cNvPicPr>
          <p:nvPr/>
        </p:nvPicPr>
        <p:blipFill>
          <a:blip r:embed="rId2"/>
          <a:stretch>
            <a:fillRect/>
          </a:stretch>
        </p:blipFill>
        <p:spPr>
          <a:xfrm>
            <a:off x="3931920" y="2103120"/>
            <a:ext cx="4206240" cy="2368296"/>
          </a:xfrm>
          <a:prstGeom prst="rect">
            <a:avLst/>
          </a:prstGeom>
        </p:spPr>
      </p:pic>
      <p:sp>
        <p:nvSpPr>
          <p:cNvPr id="12" name="Frame Award ceremony with honor certificates"/>
          <p:cNvSpPr/>
          <p:nvPr/>
        </p:nvSpPr>
        <p:spPr>
          <a:xfrm>
            <a:off x="3931920" y="2103120"/>
            <a:ext cx="4206240" cy="2368296"/>
          </a:xfrm>
          <a:prstGeom prst="rect">
            <a:avLst/>
          </a:prstGeom>
          <a:ln w="19050">
            <a:solidFill>
              <a:srgbClr val="E0B25A"/>
            </a:solidFill>
            <a:prstDash val="solid"/>
          </a:ln>
        </p:spPr>
      </p:sp>
      <p:sp>
        <p:nvSpPr>
          <p:cNvPr id="13" name="Text 8"/>
          <p:cNvSpPr txBox="1"/>
          <p:nvPr/>
        </p:nvSpPr>
        <p:spPr>
          <a:xfrm>
            <a:off x="3931920" y="4663440"/>
            <a:ext cx="4206240" cy="1645920"/>
          </a:xfrm>
          <a:prstGeom prst="rect">
            <a:avLst/>
          </a:prstGeom>
          <a:noFill/>
          <a:ln/>
        </p:spPr>
        <p:txBody>
          <a:bodyPr wrap="square" lIns="0" tIns="0" rIns="0" bIns="0" rtlCol="0" anchor="t"/>
          <a:lstStyle/>
          <a:p>
            <a:pPr indent="0" marL="0">
              <a:spcAft>
                <a:spcPts val="600"/>
              </a:spcAft>
              <a:buNone/>
            </a:pPr>
            <a:r>
              <a:rPr lang="en-US" sz="1700" b="1" dirty="0">
                <a:solidFill>
                  <a:srgbClr val="E0B25A"/>
                </a:solidFill>
                <a:latin typeface="Cambria" pitchFamily="34" charset="0"/>
                <a:ea typeface="Cambria" pitchFamily="34" charset="-122"/>
                <a:cs typeface="Cambria" pitchFamily="34" charset="-120"/>
              </a:rPr>
              <a:t>优秀书法作品 · Excellent Calligraphy Work</a:t>
            </a:r>
            <a:endParaRPr lang="en-US" sz="1700" dirty="0"/>
          </a:p>
          <a:p>
            <a:pPr indent="0" marL="0">
              <a:spcAft>
                <a:spcPts val="600"/>
              </a:spcAft>
              <a:buNone/>
            </a:pPr>
            <a:r>
              <a:rPr lang="en-US" sz="1400" dirty="0">
                <a:solidFill>
                  <a:srgbClr val="F7F1E8"/>
                </a:solidFill>
                <a:latin typeface="Calibri" pitchFamily="34" charset="0"/>
                <a:ea typeface="Calibri" pitchFamily="34" charset="-122"/>
                <a:cs typeface="Calibri" pitchFamily="34" charset="-120"/>
              </a:rPr>
              <a:t>Jiangsu 2025 “Read Jiangsu” contest for international students. My piece: 《留子读“苏”》. Issued by the Jiangsu Higher Education Association.</a:t>
            </a:r>
            <a:endParaRPr lang="en-US" sz="1700" dirty="0"/>
          </a:p>
        </p:txBody>
      </p:sp>
      <p:pic>
        <p:nvPicPr>
          <p:cNvPr id="14" name="Jubair with his brush calligraphy 自强不息" descr="Jubair with his brush calligraphy 自强不息">    </p:cNvPr>
          <p:cNvPicPr>
            <a:picLocks noChangeAspect="1"/>
          </p:cNvPicPr>
          <p:nvPr/>
        </p:nvPicPr>
        <p:blipFill>
          <a:blip r:embed="rId3"/>
          <a:stretch>
            <a:fillRect/>
          </a:stretch>
        </p:blipFill>
        <p:spPr>
          <a:xfrm>
            <a:off x="8412480" y="2103120"/>
            <a:ext cx="3227832" cy="4206240"/>
          </a:xfrm>
          <a:prstGeom prst="rect">
            <a:avLst/>
          </a:prstGeom>
        </p:spPr>
      </p:pic>
      <p:sp>
        <p:nvSpPr>
          <p:cNvPr id="15" name="Frame Jubair with his brush calligraphy 自强不息"/>
          <p:cNvSpPr/>
          <p:nvPr/>
        </p:nvSpPr>
        <p:spPr>
          <a:xfrm>
            <a:off x="8412480" y="2103120"/>
            <a:ext cx="3227832" cy="4206240"/>
          </a:xfrm>
          <a:prstGeom prst="rect">
            <a:avLst/>
          </a:prstGeom>
          <a:ln w="19050">
            <a:solidFill>
              <a:srgbClr val="E0B25A"/>
            </a:solidFill>
            <a:prstDash val="solid"/>
          </a:ln>
        </p:spPr>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10F"/>
        </a:solidFill>
      </p:bgPr>
    </p:bg>
    <p:spTree>
      <p:nvGrpSpPr>
        <p:cNvPr id="1" name=""/>
        <p:cNvGrpSpPr/>
        <p:nvPr/>
      </p:nvGrpSpPr>
      <p:grpSpPr>
        <a:xfrm>
          <a:off x="0" y="0"/>
          <a:ext cx="0" cy="0"/>
          <a:chOff x="0" y="0"/>
          <a:chExt cx="0" cy="0"/>
        </a:xfrm>
      </p:grpSpPr>
      <p:sp>
        <p:nvSpPr>
          <p:cNvPr id="2" name="Seal"/>
          <p:cNvSpPr/>
          <p:nvPr/>
        </p:nvSpPr>
        <p:spPr>
          <a:xfrm>
            <a:off x="548640" y="457200"/>
            <a:ext cx="566928" cy="566928"/>
          </a:xfrm>
          <a:prstGeom prst="roundRect">
            <a:avLst>
              <a:gd name="adj" fmla="val 9677"/>
            </a:avLst>
          </a:prstGeom>
          <a:solidFill>
            <a:srgbClr val="C8322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356" b="1" dirty="0">
                <a:solidFill>
                  <a:srgbClr val="FFFFFF"/>
                </a:solidFill>
                <a:latin typeface="Microsoft YaHei" pitchFamily="34" charset="0"/>
                <a:ea typeface="Microsoft YaHei" pitchFamily="34" charset="-122"/>
                <a:cs typeface="Microsoft YaHei" pitchFamily="34" charset="-120"/>
              </a:rPr>
              <a:t>主</a:t>
            </a:r>
            <a:endParaRPr lang="en-US" sz="2356" dirty="0"/>
          </a:p>
        </p:txBody>
      </p:sp>
      <p:sp>
        <p:nvSpPr>
          <p:cNvPr id="4" name="Text 2"/>
          <p:cNvSpPr txBox="1"/>
          <p:nvPr/>
        </p:nvSpPr>
        <p:spPr>
          <a:xfrm>
            <a:off x="1280160" y="457200"/>
            <a:ext cx="8229600" cy="566928"/>
          </a:xfrm>
          <a:prstGeom prst="rect">
            <a:avLst/>
          </a:prstGeom>
          <a:noFill/>
          <a:ln/>
        </p:spPr>
        <p:txBody>
          <a:bodyPr wrap="square" lIns="0" tIns="0" rIns="0" bIns="0" rtlCol="0" anchor="ctr"/>
          <a:lstStyle/>
          <a:p>
            <a:pPr indent="0" marL="0">
              <a:buNone/>
            </a:pPr>
            <a:r>
              <a:rPr lang="en-US" sz="1300" b="1" spc="300" kern="0" dirty="0">
                <a:solidFill>
                  <a:srgbClr val="E0B25A"/>
                </a:solidFill>
                <a:latin typeface="Calibri" pitchFamily="34" charset="0"/>
                <a:ea typeface="Calibri" pitchFamily="34" charset="-122"/>
                <a:cs typeface="Calibri" pitchFamily="34" charset="-120"/>
              </a:rPr>
              <a:t>3 · ACTIVITIES · VOICE</a:t>
            </a:r>
            <a:endParaRPr lang="en-US" sz="1300" dirty="0"/>
          </a:p>
        </p:txBody>
      </p:sp>
      <p:sp>
        <p:nvSpPr>
          <p:cNvPr id="5" name="Text 3"/>
          <p:cNvSpPr txBox="1"/>
          <p:nvPr/>
        </p:nvSpPr>
        <p:spPr>
          <a:xfrm>
            <a:off x="548640" y="1097280"/>
            <a:ext cx="11094415" cy="777240"/>
          </a:xfrm>
          <a:prstGeom prst="rect">
            <a:avLst/>
          </a:prstGeom>
          <a:noFill/>
          <a:ln/>
        </p:spPr>
        <p:txBody>
          <a:bodyPr wrap="square" lIns="0" tIns="0" rIns="0" bIns="0" rtlCol="0" anchor="ctr"/>
          <a:lstStyle/>
          <a:p>
            <a:pPr indent="0" marL="0">
              <a:buNone/>
            </a:pPr>
            <a:r>
              <a:rPr lang="en-US" sz="3800" b="1" dirty="0">
                <a:solidFill>
                  <a:srgbClr val="F7F1E8"/>
                </a:solidFill>
                <a:latin typeface="Cambria" pitchFamily="34" charset="0"/>
                <a:ea typeface="Cambria" pitchFamily="34" charset="-122"/>
                <a:cs typeface="Cambria" pitchFamily="34" charset="-120"/>
              </a:rPr>
              <a:t>A voice for Chinese celebrations</a:t>
            </a:r>
            <a:endParaRPr lang="en-US" sz="3800" dirty="0"/>
          </a:p>
        </p:txBody>
      </p:sp>
      <p:sp>
        <p:nvSpPr>
          <p:cNvPr id="6"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B9AEA0"/>
                </a:solidFill>
                <a:latin typeface="Calibri" pitchFamily="34" charset="0"/>
                <a:ea typeface="Calibri" pitchFamily="34" charset="-122"/>
                <a:cs typeface="Calibri" pitchFamily="34" charset="-120"/>
              </a:rPr>
              <a:t>Jubair Md Ariful Islam · 王子</a:t>
            </a:r>
            <a:endParaRPr lang="en-US" sz="1000" dirty="0"/>
          </a:p>
        </p:txBody>
      </p:sp>
      <p:sp>
        <p:nvSpPr>
          <p:cNvPr id="7" name="Text 5"/>
          <p:cNvSpPr txBox="1"/>
          <p:nvPr/>
        </p:nvSpPr>
        <p:spPr>
          <a:xfrm>
            <a:off x="9814255" y="6400800"/>
            <a:ext cx="1828800" cy="274320"/>
          </a:xfrm>
          <a:prstGeom prst="rect">
            <a:avLst/>
          </a:prstGeom>
          <a:noFill/>
          <a:ln/>
        </p:spPr>
        <p:txBody>
          <a:bodyPr wrap="square" lIns="0" tIns="0" rIns="0" bIns="0" rtlCol="0" anchor="ctr"/>
          <a:lstStyle/>
          <a:p>
            <a:pPr algn="r" indent="0" marL="0">
              <a:buNone/>
            </a:pPr>
            <a:r>
              <a:rPr lang="en-US" sz="1000" dirty="0">
                <a:solidFill>
                  <a:srgbClr val="B9AEA0"/>
                </a:solidFill>
                <a:latin typeface="Calibri" pitchFamily="34" charset="0"/>
                <a:ea typeface="Calibri" pitchFamily="34" charset="-122"/>
                <a:cs typeface="Calibri" pitchFamily="34" charset="-120"/>
              </a:rPr>
              <a:t>07 / 11</a:t>
            </a:r>
            <a:endParaRPr lang="en-US" sz="1000" dirty="0"/>
          </a:p>
        </p:txBody>
      </p:sp>
      <p:pic>
        <p:nvPicPr>
          <p:cNvPr id="9" name="Jubair co-hosting the Mid-Autumn Festival" descr="Jubair co-hosting the Mid-Autumn Festival">    </p:cNvPr>
          <p:cNvPicPr>
            <a:picLocks noChangeAspect="1"/>
          </p:cNvPicPr>
          <p:nvPr/>
        </p:nvPicPr>
        <p:blipFill>
          <a:blip r:embed="rId1"/>
          <a:stretch>
            <a:fillRect/>
          </a:stretch>
        </p:blipFill>
        <p:spPr>
          <a:xfrm>
            <a:off x="548640" y="2103120"/>
            <a:ext cx="5669280" cy="3776472"/>
          </a:xfrm>
          <a:prstGeom prst="rect">
            <a:avLst/>
          </a:prstGeom>
        </p:spPr>
      </p:pic>
      <p:sp>
        <p:nvSpPr>
          <p:cNvPr id="10" name="Frame Jubair co-hosting the Mid-Autumn Festival"/>
          <p:cNvSpPr/>
          <p:nvPr/>
        </p:nvSpPr>
        <p:spPr>
          <a:xfrm>
            <a:off x="548640" y="2103120"/>
            <a:ext cx="5669280" cy="3776472"/>
          </a:xfrm>
          <a:prstGeom prst="rect">
            <a:avLst/>
          </a:prstGeom>
          <a:ln w="19050">
            <a:solidFill>
              <a:srgbClr val="E0B25A"/>
            </a:solidFill>
            <a:prstDash val="solid"/>
          </a:ln>
        </p:spPr>
      </p:sp>
      <p:sp>
        <p:nvSpPr>
          <p:cNvPr id="11" name="Text 7"/>
          <p:cNvSpPr txBox="1"/>
          <p:nvPr/>
        </p:nvSpPr>
        <p:spPr>
          <a:xfrm>
            <a:off x="548640" y="5943600"/>
            <a:ext cx="5669280" cy="320040"/>
          </a:xfrm>
          <a:prstGeom prst="rect">
            <a:avLst/>
          </a:prstGeom>
          <a:noFill/>
          <a:ln/>
        </p:spPr>
        <p:txBody>
          <a:bodyPr wrap="square" lIns="0" tIns="0" rIns="0" bIns="0" rtlCol="0" anchor="ctr"/>
          <a:lstStyle/>
          <a:p>
            <a:pPr indent="0" marL="0">
              <a:buNone/>
            </a:pPr>
            <a:r>
              <a:rPr lang="en-US" sz="1300" i="1" dirty="0">
                <a:solidFill>
                  <a:srgbClr val="B9AEA0"/>
                </a:solidFill>
                <a:latin typeface="Calibri" pitchFamily="34" charset="0"/>
                <a:ea typeface="Calibri" pitchFamily="34" charset="-122"/>
                <a:cs typeface="Calibri" pitchFamily="34" charset="-120"/>
              </a:rPr>
              <a:t>Co-hosting the Mid-Autumn Festival, 29 Sep 2025</a:t>
            </a:r>
            <a:endParaRPr lang="en-US" sz="1300" dirty="0"/>
          </a:p>
        </p:txBody>
      </p:sp>
      <p:pic>
        <p:nvPicPr>
          <p:cNvPr id="12" name="Hosting on stage" descr="Hosting on stage">    </p:cNvPr>
          <p:cNvPicPr>
            <a:picLocks noChangeAspect="1"/>
          </p:cNvPicPr>
          <p:nvPr/>
        </p:nvPicPr>
        <p:blipFill>
          <a:blip r:embed="rId2"/>
          <a:stretch>
            <a:fillRect/>
          </a:stretch>
        </p:blipFill>
        <p:spPr>
          <a:xfrm>
            <a:off x="6492240" y="2103120"/>
            <a:ext cx="2468880" cy="2468880"/>
          </a:xfrm>
          <a:prstGeom prst="rect">
            <a:avLst/>
          </a:prstGeom>
        </p:spPr>
      </p:pic>
      <p:sp>
        <p:nvSpPr>
          <p:cNvPr id="13" name="Frame Hosting on stage"/>
          <p:cNvSpPr/>
          <p:nvPr/>
        </p:nvSpPr>
        <p:spPr>
          <a:xfrm>
            <a:off x="6492240" y="2103120"/>
            <a:ext cx="2468880" cy="2468880"/>
          </a:xfrm>
          <a:prstGeom prst="rect">
            <a:avLst/>
          </a:prstGeom>
          <a:ln w="19050">
            <a:solidFill>
              <a:srgbClr val="E0B25A"/>
            </a:solidFill>
            <a:prstDash val="solid"/>
          </a:ln>
        </p:spPr>
      </p:sp>
      <p:pic>
        <p:nvPicPr>
          <p:cNvPr id="14" name="New Year celebration with the 福 character" descr="New Year celebration with the 福 character">    </p:cNvPr>
          <p:cNvPicPr>
            <a:picLocks noChangeAspect="1"/>
          </p:cNvPicPr>
          <p:nvPr/>
        </p:nvPicPr>
        <p:blipFill>
          <a:blip r:embed="rId3"/>
          <a:stretch>
            <a:fillRect/>
          </a:stretch>
        </p:blipFill>
        <p:spPr>
          <a:xfrm>
            <a:off x="9171432" y="2103120"/>
            <a:ext cx="2468880" cy="2468880"/>
          </a:xfrm>
          <a:prstGeom prst="rect">
            <a:avLst/>
          </a:prstGeom>
        </p:spPr>
      </p:pic>
      <p:sp>
        <p:nvSpPr>
          <p:cNvPr id="15" name="Frame New Year celebration with the 福 character"/>
          <p:cNvSpPr/>
          <p:nvPr/>
        </p:nvSpPr>
        <p:spPr>
          <a:xfrm>
            <a:off x="9171432" y="2103120"/>
            <a:ext cx="2468880" cy="2468880"/>
          </a:xfrm>
          <a:prstGeom prst="rect">
            <a:avLst/>
          </a:prstGeom>
          <a:ln w="19050">
            <a:solidFill>
              <a:srgbClr val="E0B25A"/>
            </a:solidFill>
            <a:prstDash val="solid"/>
          </a:ln>
        </p:spPr>
      </p:sp>
      <p:sp>
        <p:nvSpPr>
          <p:cNvPr id="16" name="Text 10"/>
          <p:cNvSpPr txBox="1"/>
          <p:nvPr/>
        </p:nvSpPr>
        <p:spPr>
          <a:xfrm>
            <a:off x="6492240" y="4846320"/>
            <a:ext cx="5148072" cy="13716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F7F1E8"/>
                </a:solidFill>
                <a:latin typeface="Calibri" pitchFamily="34" charset="0"/>
                <a:ea typeface="Calibri" pitchFamily="34" charset="-122"/>
                <a:cs typeface="Calibri" pitchFamily="34" charset="-120"/>
              </a:rPr>
              <a:t>Mid-Autumn Festival host</a:t>
            </a:r>
            <a:endParaRPr lang="en-US" sz="1700" dirty="0"/>
          </a:p>
          <a:p>
            <a:pPr marL="342900" indent="-342900">
              <a:spcAft>
                <a:spcPts val="800"/>
              </a:spcAft>
              <a:buSzPct val="100000"/>
              <a:buChar char="•"/>
            </a:pPr>
            <a:r>
              <a:rPr lang="en-US" sz="1700" dirty="0">
                <a:solidFill>
                  <a:srgbClr val="F7F1E8"/>
                </a:solidFill>
                <a:latin typeface="Calibri" pitchFamily="34" charset="0"/>
                <a:ea typeface="Calibri" pitchFamily="34" charset="-122"/>
                <a:cs typeface="Calibri" pitchFamily="34" charset="-120"/>
              </a:rPr>
              <a:t>Hosted Chinese cultural events</a:t>
            </a:r>
            <a:endParaRPr lang="en-US" sz="1700" dirty="0"/>
          </a:p>
          <a:p>
            <a:pPr marL="342900" indent="-342900">
              <a:spcAft>
                <a:spcPts val="800"/>
              </a:spcAft>
              <a:buSzPct val="100000"/>
              <a:buChar char="•"/>
            </a:pPr>
            <a:r>
              <a:rPr lang="en-US" sz="1700" dirty="0">
                <a:solidFill>
                  <a:srgbClr val="F7F1E8"/>
                </a:solidFill>
                <a:latin typeface="Calibri" pitchFamily="34" charset="0"/>
                <a:ea typeface="Calibri" pitchFamily="34" charset="-122"/>
                <a:cs typeface="Calibri" pitchFamily="34" charset="-120"/>
              </a:rPr>
              <a:t>New Year celebration, 29 Dec 2025: my own 福</a:t>
            </a:r>
            <a:endParaRPr lang="en-US" sz="17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10F"/>
        </a:solidFill>
      </p:bgPr>
    </p:bg>
    <p:spTree>
      <p:nvGrpSpPr>
        <p:cNvPr id="1" name=""/>
        <p:cNvGrpSpPr/>
        <p:nvPr/>
      </p:nvGrpSpPr>
      <p:grpSpPr>
        <a:xfrm>
          <a:off x="0" y="0"/>
          <a:ext cx="0" cy="0"/>
          <a:chOff x="0" y="0"/>
          <a:chExt cx="0" cy="0"/>
        </a:xfrm>
      </p:grpSpPr>
      <p:sp>
        <p:nvSpPr>
          <p:cNvPr id="2" name="Seal"/>
          <p:cNvSpPr/>
          <p:nvPr/>
        </p:nvSpPr>
        <p:spPr>
          <a:xfrm>
            <a:off x="548640" y="457200"/>
            <a:ext cx="566928" cy="566928"/>
          </a:xfrm>
          <a:prstGeom prst="roundRect">
            <a:avLst>
              <a:gd name="adj" fmla="val 9677"/>
            </a:avLst>
          </a:prstGeom>
          <a:solidFill>
            <a:srgbClr val="C8322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356" b="1" dirty="0">
                <a:solidFill>
                  <a:srgbClr val="FFFFFF"/>
                </a:solidFill>
                <a:latin typeface="Microsoft YaHei" pitchFamily="34" charset="0"/>
                <a:ea typeface="Microsoft YaHei" pitchFamily="34" charset="-122"/>
                <a:cs typeface="Microsoft YaHei" pitchFamily="34" charset="-120"/>
              </a:rPr>
              <a:t>服</a:t>
            </a:r>
            <a:endParaRPr lang="en-US" sz="2356" dirty="0"/>
          </a:p>
        </p:txBody>
      </p:sp>
      <p:sp>
        <p:nvSpPr>
          <p:cNvPr id="4" name="Text 2"/>
          <p:cNvSpPr txBox="1"/>
          <p:nvPr/>
        </p:nvSpPr>
        <p:spPr>
          <a:xfrm>
            <a:off x="1280160" y="457200"/>
            <a:ext cx="8229600" cy="566928"/>
          </a:xfrm>
          <a:prstGeom prst="rect">
            <a:avLst/>
          </a:prstGeom>
          <a:noFill/>
          <a:ln/>
        </p:spPr>
        <p:txBody>
          <a:bodyPr wrap="square" lIns="0" tIns="0" rIns="0" bIns="0" rtlCol="0" anchor="ctr"/>
          <a:lstStyle/>
          <a:p>
            <a:pPr indent="0" marL="0">
              <a:buNone/>
            </a:pPr>
            <a:r>
              <a:rPr lang="en-US" sz="1300" b="1" spc="300" kern="0" dirty="0">
                <a:solidFill>
                  <a:srgbClr val="E0B25A"/>
                </a:solidFill>
                <a:latin typeface="Calibri" pitchFamily="34" charset="0"/>
                <a:ea typeface="Calibri" pitchFamily="34" charset="-122"/>
                <a:cs typeface="Calibri" pitchFamily="34" charset="-120"/>
              </a:rPr>
              <a:t>3 · ACTIVITIES · SERVICE</a:t>
            </a:r>
            <a:endParaRPr lang="en-US" sz="1300" dirty="0"/>
          </a:p>
        </p:txBody>
      </p:sp>
      <p:sp>
        <p:nvSpPr>
          <p:cNvPr id="5" name="Text 3"/>
          <p:cNvSpPr txBox="1"/>
          <p:nvPr/>
        </p:nvSpPr>
        <p:spPr>
          <a:xfrm>
            <a:off x="548640" y="1097280"/>
            <a:ext cx="11094415" cy="777240"/>
          </a:xfrm>
          <a:prstGeom prst="rect">
            <a:avLst/>
          </a:prstGeom>
          <a:noFill/>
          <a:ln/>
        </p:spPr>
        <p:txBody>
          <a:bodyPr wrap="square" lIns="0" tIns="0" rIns="0" bIns="0" rtlCol="0" anchor="ctr"/>
          <a:lstStyle/>
          <a:p>
            <a:pPr indent="0" marL="0">
              <a:buNone/>
            </a:pPr>
            <a:r>
              <a:rPr lang="en-US" sz="3800" b="1" dirty="0">
                <a:solidFill>
                  <a:srgbClr val="F7F1E8"/>
                </a:solidFill>
                <a:latin typeface="Cambria" pitchFamily="34" charset="0"/>
                <a:ea typeface="Cambria" pitchFamily="34" charset="-122"/>
                <a:cs typeface="Cambria" pitchFamily="34" charset="-120"/>
              </a:rPr>
              <a:t>Service that earned an award</a:t>
            </a:r>
            <a:endParaRPr lang="en-US" sz="3800" dirty="0"/>
          </a:p>
        </p:txBody>
      </p:sp>
      <p:sp>
        <p:nvSpPr>
          <p:cNvPr id="6"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B9AEA0"/>
                </a:solidFill>
                <a:latin typeface="Calibri" pitchFamily="34" charset="0"/>
                <a:ea typeface="Calibri" pitchFamily="34" charset="-122"/>
                <a:cs typeface="Calibri" pitchFamily="34" charset="-120"/>
              </a:rPr>
              <a:t>Jubair Md Ariful Islam · 王子</a:t>
            </a:r>
            <a:endParaRPr lang="en-US" sz="1000" dirty="0"/>
          </a:p>
        </p:txBody>
      </p:sp>
      <p:sp>
        <p:nvSpPr>
          <p:cNvPr id="7" name="Text 5"/>
          <p:cNvSpPr txBox="1"/>
          <p:nvPr/>
        </p:nvSpPr>
        <p:spPr>
          <a:xfrm>
            <a:off x="9814255" y="6400800"/>
            <a:ext cx="1828800" cy="274320"/>
          </a:xfrm>
          <a:prstGeom prst="rect">
            <a:avLst/>
          </a:prstGeom>
          <a:noFill/>
          <a:ln/>
        </p:spPr>
        <p:txBody>
          <a:bodyPr wrap="square" lIns="0" tIns="0" rIns="0" bIns="0" rtlCol="0" anchor="ctr"/>
          <a:lstStyle/>
          <a:p>
            <a:pPr algn="r" indent="0" marL="0">
              <a:buNone/>
            </a:pPr>
            <a:r>
              <a:rPr lang="en-US" sz="1000" dirty="0">
                <a:solidFill>
                  <a:srgbClr val="B9AEA0"/>
                </a:solidFill>
                <a:latin typeface="Calibri" pitchFamily="34" charset="0"/>
                <a:ea typeface="Calibri" pitchFamily="34" charset="-122"/>
                <a:cs typeface="Calibri" pitchFamily="34" charset="-120"/>
              </a:rPr>
              <a:t>08 / 11</a:t>
            </a:r>
            <a:endParaRPr lang="en-US" sz="1000" dirty="0"/>
          </a:p>
        </p:txBody>
      </p:sp>
      <p:pic>
        <p:nvPicPr>
          <p:cNvPr id="9" name="SIE volunteers at the 2026 admission-day help desk" descr="SIE volunteers at the 2026 admission-day help desk">    </p:cNvPr>
          <p:cNvPicPr>
            <a:picLocks noChangeAspect="1"/>
          </p:cNvPicPr>
          <p:nvPr/>
        </p:nvPicPr>
        <p:blipFill>
          <a:blip r:embed="rId1"/>
          <a:stretch>
            <a:fillRect/>
          </a:stretch>
        </p:blipFill>
        <p:spPr>
          <a:xfrm>
            <a:off x="548640" y="2103120"/>
            <a:ext cx="6309360" cy="4206240"/>
          </a:xfrm>
          <a:prstGeom prst="rect">
            <a:avLst/>
          </a:prstGeom>
        </p:spPr>
      </p:pic>
      <p:sp>
        <p:nvSpPr>
          <p:cNvPr id="10" name="Frame SIE volunteers at the 2026 admission-day help desk"/>
          <p:cNvSpPr/>
          <p:nvPr/>
        </p:nvSpPr>
        <p:spPr>
          <a:xfrm>
            <a:off x="548640" y="2103120"/>
            <a:ext cx="6309360" cy="4206240"/>
          </a:xfrm>
          <a:prstGeom prst="rect">
            <a:avLst/>
          </a:prstGeom>
          <a:ln w="19050">
            <a:solidFill>
              <a:srgbClr val="E0B25A"/>
            </a:solidFill>
            <a:prstDash val="solid"/>
          </a:ln>
        </p:spPr>
      </p:sp>
      <p:sp>
        <p:nvSpPr>
          <p:cNvPr id="11" name="Award card"/>
          <p:cNvSpPr/>
          <p:nvPr/>
        </p:nvSpPr>
        <p:spPr>
          <a:xfrm>
            <a:off x="7315200" y="2103120"/>
            <a:ext cx="4325112" cy="1234440"/>
          </a:xfrm>
          <a:prstGeom prst="roundRect">
            <a:avLst>
              <a:gd name="adj" fmla="val 8889"/>
            </a:avLst>
          </a:prstGeom>
          <a:solidFill>
            <a:srgbClr val="C8322B"/>
          </a:solidFill>
          <a:ln/>
        </p:spPr>
      </p:sp>
      <p:pic>
        <p:nvPicPr>
          <p:cNvPr id="12" name="Image 1" descr="trophy">    </p:cNvPr>
          <p:cNvPicPr>
            <a:picLocks noChangeAspect="1"/>
          </p:cNvPicPr>
          <p:nvPr/>
        </p:nvPicPr>
        <p:blipFill>
          <a:blip r:embed="rId2"/>
          <a:stretch>
            <a:fillRect/>
          </a:stretch>
        </p:blipFill>
        <p:spPr>
          <a:xfrm>
            <a:off x="7589520" y="2423160"/>
            <a:ext cx="594360" cy="594360"/>
          </a:xfrm>
          <a:prstGeom prst="rect">
            <a:avLst/>
          </a:prstGeom>
        </p:spPr>
      </p:pic>
      <p:sp>
        <p:nvSpPr>
          <p:cNvPr id="13" name="Text 8"/>
          <p:cNvSpPr txBox="1"/>
          <p:nvPr/>
        </p:nvSpPr>
        <p:spPr>
          <a:xfrm>
            <a:off x="8366760" y="2103120"/>
            <a:ext cx="3108960" cy="1234440"/>
          </a:xfrm>
          <a:prstGeom prst="rect">
            <a:avLst/>
          </a:prstGeom>
          <a:noFill/>
          <a:ln/>
        </p:spPr>
        <p:txBody>
          <a:bodyPr wrap="square" lIns="0" tIns="0" rIns="0" bIns="0" rtlCol="0" anchor="ctr"/>
          <a:lstStyle/>
          <a:p>
            <a:pPr indent="0" marL="0">
              <a:buNone/>
            </a:pPr>
            <a:r>
              <a:rPr lang="en-US" sz="1200" b="1" spc="300" kern="0" dirty="0">
                <a:solidFill>
                  <a:srgbClr val="FFE9D6"/>
                </a:solidFill>
                <a:latin typeface="Calibri" pitchFamily="34" charset="0"/>
                <a:ea typeface="Calibri" pitchFamily="34" charset="-122"/>
                <a:cs typeface="Calibri" pitchFamily="34" charset="-120"/>
              </a:rPr>
              <a:t>SERVICE AWARD</a:t>
            </a:r>
            <a:endParaRPr lang="en-US" sz="1200" dirty="0"/>
          </a:p>
          <a:p>
            <a:pPr indent="0" marL="0">
              <a:buNone/>
            </a:pPr>
            <a:r>
              <a:rPr lang="en-US" sz="1600" b="1" dirty="0">
                <a:solidFill>
                  <a:srgbClr val="FFFFFF"/>
                </a:solidFill>
                <a:latin typeface="Calibri" pitchFamily="34" charset="0"/>
                <a:ea typeface="Calibri" pitchFamily="34" charset="-122"/>
                <a:cs typeface="Calibri" pitchFamily="34" charset="-120"/>
              </a:rPr>
              <a:t>For assisting the School of International Education</a:t>
            </a:r>
            <a:endParaRPr lang="en-US" sz="1200" dirty="0"/>
          </a:p>
        </p:txBody>
      </p:sp>
      <p:sp>
        <p:nvSpPr>
          <p:cNvPr id="14" name="Icon disc"/>
          <p:cNvSpPr/>
          <p:nvPr/>
        </p:nvSpPr>
        <p:spPr>
          <a:xfrm>
            <a:off x="7315200" y="3611880"/>
            <a:ext cx="594360" cy="594360"/>
          </a:xfrm>
          <a:prstGeom prst="ellipse">
            <a:avLst/>
          </a:prstGeom>
          <a:solidFill>
            <a:srgbClr val="C8322B"/>
          </a:solidFill>
          <a:ln/>
        </p:spPr>
      </p:sp>
      <p:pic>
        <p:nvPicPr>
          <p:cNvPr id="15" name="Image 2" descr="check icon">    </p:cNvPr>
          <p:cNvPicPr>
            <a:picLocks noChangeAspect="1"/>
          </p:cNvPicPr>
          <p:nvPr/>
        </p:nvPicPr>
        <p:blipFill>
          <a:blip r:embed="rId3"/>
          <a:stretch>
            <a:fillRect/>
          </a:stretch>
        </p:blipFill>
        <p:spPr>
          <a:xfrm>
            <a:off x="7457846" y="3754526"/>
            <a:ext cx="309067" cy="309067"/>
          </a:xfrm>
          <a:prstGeom prst="rect">
            <a:avLst/>
          </a:prstGeom>
        </p:spPr>
      </p:pic>
      <p:sp>
        <p:nvSpPr>
          <p:cNvPr id="16" name="Text 10"/>
          <p:cNvSpPr txBox="1"/>
          <p:nvPr/>
        </p:nvSpPr>
        <p:spPr>
          <a:xfrm>
            <a:off x="8138160" y="3611880"/>
            <a:ext cx="3502152" cy="594360"/>
          </a:xfrm>
          <a:prstGeom prst="rect">
            <a:avLst/>
          </a:prstGeom>
          <a:noFill/>
          <a:ln/>
        </p:spPr>
        <p:txBody>
          <a:bodyPr wrap="square" lIns="0" tIns="0" rIns="0" bIns="0" rtlCol="0" anchor="ctr"/>
          <a:lstStyle/>
          <a:p>
            <a:pPr indent="0" marL="0">
              <a:buNone/>
            </a:pPr>
            <a:r>
              <a:rPr lang="en-US" sz="1800" b="1" dirty="0">
                <a:solidFill>
                  <a:srgbClr val="F7F1E8"/>
                </a:solidFill>
                <a:latin typeface="Cambria" pitchFamily="34" charset="0"/>
                <a:ea typeface="Cambria" pitchFamily="34" charset="-122"/>
                <a:cs typeface="Cambria" pitchFamily="34" charset="-120"/>
              </a:rPr>
              <a:t>Made check-in easier</a:t>
            </a:r>
            <a:endParaRPr lang="en-US" sz="1800" dirty="0"/>
          </a:p>
          <a:p>
            <a:pPr indent="0" marL="0">
              <a:buNone/>
            </a:pPr>
            <a:r>
              <a:rPr lang="en-US" sz="1400" dirty="0">
                <a:solidFill>
                  <a:srgbClr val="B9AEA0"/>
                </a:solidFill>
                <a:latin typeface="Calibri" pitchFamily="34" charset="0"/>
                <a:ea typeface="Calibri" pitchFamily="34" charset="-122"/>
                <a:cs typeface="Calibri" pitchFamily="34" charset="-120"/>
              </a:rPr>
              <a:t>A smoother, more comfortable day for new students</a:t>
            </a:r>
            <a:endParaRPr lang="en-US" sz="1800" dirty="0"/>
          </a:p>
        </p:txBody>
      </p:sp>
      <p:sp>
        <p:nvSpPr>
          <p:cNvPr id="17" name="Icon disc"/>
          <p:cNvSpPr/>
          <p:nvPr/>
        </p:nvSpPr>
        <p:spPr>
          <a:xfrm>
            <a:off x="7315200" y="4526280"/>
            <a:ext cx="594360" cy="594360"/>
          </a:xfrm>
          <a:prstGeom prst="ellipse">
            <a:avLst/>
          </a:prstGeom>
          <a:solidFill>
            <a:srgbClr val="C8322B"/>
          </a:solidFill>
          <a:ln/>
        </p:spPr>
      </p:sp>
      <p:pic>
        <p:nvPicPr>
          <p:cNvPr id="18" name="Image 3" descr="route icon">    </p:cNvPr>
          <p:cNvPicPr>
            <a:picLocks noChangeAspect="1"/>
          </p:cNvPicPr>
          <p:nvPr/>
        </p:nvPicPr>
        <p:blipFill>
          <a:blip r:embed="rId4"/>
          <a:stretch>
            <a:fillRect/>
          </a:stretch>
        </p:blipFill>
        <p:spPr>
          <a:xfrm>
            <a:off x="7457846" y="4668926"/>
            <a:ext cx="309067" cy="309067"/>
          </a:xfrm>
          <a:prstGeom prst="rect">
            <a:avLst/>
          </a:prstGeom>
        </p:spPr>
      </p:pic>
      <p:sp>
        <p:nvSpPr>
          <p:cNvPr id="19" name="Text 12"/>
          <p:cNvSpPr txBox="1"/>
          <p:nvPr/>
        </p:nvSpPr>
        <p:spPr>
          <a:xfrm>
            <a:off x="8138160" y="4526280"/>
            <a:ext cx="3502152" cy="594360"/>
          </a:xfrm>
          <a:prstGeom prst="rect">
            <a:avLst/>
          </a:prstGeom>
          <a:noFill/>
          <a:ln/>
        </p:spPr>
        <p:txBody>
          <a:bodyPr wrap="square" lIns="0" tIns="0" rIns="0" bIns="0" rtlCol="0" anchor="ctr"/>
          <a:lstStyle/>
          <a:p>
            <a:pPr indent="0" marL="0">
              <a:buNone/>
            </a:pPr>
            <a:r>
              <a:rPr lang="en-US" sz="1800" b="1" dirty="0">
                <a:solidFill>
                  <a:srgbClr val="F7F1E8"/>
                </a:solidFill>
                <a:latin typeface="Cambria" pitchFamily="34" charset="0"/>
                <a:ea typeface="Cambria" pitchFamily="34" charset="-122"/>
                <a:cs typeface="Cambria" pitchFamily="34" charset="-120"/>
              </a:rPr>
              <a:t>Guided every step</a:t>
            </a:r>
            <a:endParaRPr lang="en-US" sz="1800" dirty="0"/>
          </a:p>
          <a:p>
            <a:pPr indent="0" marL="0">
              <a:buNone/>
            </a:pPr>
            <a:r>
              <a:rPr lang="en-US" sz="1400" dirty="0">
                <a:solidFill>
                  <a:srgbClr val="B9AEA0"/>
                </a:solidFill>
                <a:latin typeface="Calibri" pitchFamily="34" charset="0"/>
                <a:ea typeface="Calibri" pitchFamily="34" charset="-122"/>
                <a:cs typeface="Calibri" pitchFamily="34" charset="-120"/>
              </a:rPr>
              <a:t>Walked them through the proper processes</a:t>
            </a:r>
            <a:endParaRPr lang="en-US" sz="1800" dirty="0"/>
          </a:p>
        </p:txBody>
      </p:sp>
      <p:sp>
        <p:nvSpPr>
          <p:cNvPr id="20" name="Icon disc"/>
          <p:cNvSpPr/>
          <p:nvPr/>
        </p:nvSpPr>
        <p:spPr>
          <a:xfrm>
            <a:off x="7315200" y="5440680"/>
            <a:ext cx="594360" cy="594360"/>
          </a:xfrm>
          <a:prstGeom prst="ellipse">
            <a:avLst/>
          </a:prstGeom>
          <a:solidFill>
            <a:srgbClr val="C8322B"/>
          </a:solidFill>
          <a:ln/>
        </p:spPr>
      </p:sp>
      <p:pic>
        <p:nvPicPr>
          <p:cNvPr id="21" name="Image 4" descr="teacher icon">    </p:cNvPr>
          <p:cNvPicPr>
            <a:picLocks noChangeAspect="1"/>
          </p:cNvPicPr>
          <p:nvPr/>
        </p:nvPicPr>
        <p:blipFill>
          <a:blip r:embed="rId5"/>
          <a:stretch>
            <a:fillRect/>
          </a:stretch>
        </p:blipFill>
        <p:spPr>
          <a:xfrm>
            <a:off x="7457846" y="5583326"/>
            <a:ext cx="309067" cy="309067"/>
          </a:xfrm>
          <a:prstGeom prst="rect">
            <a:avLst/>
          </a:prstGeom>
        </p:spPr>
      </p:pic>
      <p:sp>
        <p:nvSpPr>
          <p:cNvPr id="22" name="Text 14"/>
          <p:cNvSpPr txBox="1"/>
          <p:nvPr/>
        </p:nvSpPr>
        <p:spPr>
          <a:xfrm>
            <a:off x="8138160" y="5440680"/>
            <a:ext cx="3502152" cy="594360"/>
          </a:xfrm>
          <a:prstGeom prst="rect">
            <a:avLst/>
          </a:prstGeom>
          <a:noFill/>
          <a:ln/>
        </p:spPr>
        <p:txBody>
          <a:bodyPr wrap="square" lIns="0" tIns="0" rIns="0" bIns="0" rtlCol="0" anchor="ctr"/>
          <a:lstStyle/>
          <a:p>
            <a:pPr indent="0" marL="0">
              <a:buNone/>
            </a:pPr>
            <a:r>
              <a:rPr lang="en-US" sz="1800" b="1" dirty="0">
                <a:solidFill>
                  <a:srgbClr val="F7F1E8"/>
                </a:solidFill>
                <a:latin typeface="Cambria" pitchFamily="34" charset="0"/>
                <a:ea typeface="Cambria" pitchFamily="34" charset="-122"/>
                <a:cs typeface="Cambria" pitchFamily="34" charset="-120"/>
              </a:rPr>
              <a:t>Supported teachers</a:t>
            </a:r>
            <a:endParaRPr lang="en-US" sz="1800" dirty="0"/>
          </a:p>
          <a:p>
            <a:pPr indent="0" marL="0">
              <a:buNone/>
            </a:pPr>
            <a:r>
              <a:rPr lang="en-US" sz="1400" dirty="0">
                <a:solidFill>
                  <a:srgbClr val="B9AEA0"/>
                </a:solidFill>
                <a:latin typeface="Calibri" pitchFamily="34" charset="0"/>
                <a:ea typeface="Calibri" pitchFamily="34" charset="-122"/>
                <a:cs typeface="Calibri" pitchFamily="34" charset="-120"/>
              </a:rPr>
              <a:t>Worked with staff and the SIE volunteer team</a:t>
            </a:r>
            <a:endParaRPr lang="en-US" sz="18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10F"/>
        </a:solidFill>
      </p:bgPr>
    </p:bg>
    <p:spTree>
      <p:nvGrpSpPr>
        <p:cNvPr id="1" name=""/>
        <p:cNvGrpSpPr/>
        <p:nvPr/>
      </p:nvGrpSpPr>
      <p:grpSpPr>
        <a:xfrm>
          <a:off x="0" y="0"/>
          <a:ext cx="0" cy="0"/>
          <a:chOff x="0" y="0"/>
          <a:chExt cx="0" cy="0"/>
        </a:xfrm>
      </p:grpSpPr>
      <p:sp>
        <p:nvSpPr>
          <p:cNvPr id="2" name="Seal"/>
          <p:cNvSpPr/>
          <p:nvPr/>
        </p:nvSpPr>
        <p:spPr>
          <a:xfrm>
            <a:off x="548640" y="457200"/>
            <a:ext cx="566928" cy="566928"/>
          </a:xfrm>
          <a:prstGeom prst="roundRect">
            <a:avLst>
              <a:gd name="adj" fmla="val 9677"/>
            </a:avLst>
          </a:prstGeom>
          <a:solidFill>
            <a:srgbClr val="C8322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356" b="1" dirty="0">
                <a:solidFill>
                  <a:srgbClr val="FFFFFF"/>
                </a:solidFill>
                <a:latin typeface="Microsoft YaHei" pitchFamily="34" charset="0"/>
                <a:ea typeface="Microsoft YaHei" pitchFamily="34" charset="-122"/>
                <a:cs typeface="Microsoft YaHei" pitchFamily="34" charset="-120"/>
              </a:rPr>
              <a:t>桥</a:t>
            </a:r>
            <a:endParaRPr lang="en-US" sz="2356" dirty="0"/>
          </a:p>
        </p:txBody>
      </p:sp>
      <p:sp>
        <p:nvSpPr>
          <p:cNvPr id="4" name="Text 2"/>
          <p:cNvSpPr txBox="1"/>
          <p:nvPr/>
        </p:nvSpPr>
        <p:spPr>
          <a:xfrm>
            <a:off x="1280160" y="457200"/>
            <a:ext cx="8229600" cy="566928"/>
          </a:xfrm>
          <a:prstGeom prst="rect">
            <a:avLst/>
          </a:prstGeom>
          <a:noFill/>
          <a:ln/>
        </p:spPr>
        <p:txBody>
          <a:bodyPr wrap="square" lIns="0" tIns="0" rIns="0" bIns="0" rtlCol="0" anchor="ctr"/>
          <a:lstStyle/>
          <a:p>
            <a:pPr indent="0" marL="0">
              <a:buNone/>
            </a:pPr>
            <a:r>
              <a:rPr lang="en-US" sz="1300" b="1" spc="300" kern="0" dirty="0">
                <a:solidFill>
                  <a:srgbClr val="E0B25A"/>
                </a:solidFill>
                <a:latin typeface="Calibri" pitchFamily="34" charset="0"/>
                <a:ea typeface="Calibri" pitchFamily="34" charset="-122"/>
                <a:cs typeface="Calibri" pitchFamily="34" charset="-120"/>
              </a:rPr>
              <a:t>3 · ACTIVITIES · BRIDGE</a:t>
            </a:r>
            <a:endParaRPr lang="en-US" sz="1300" dirty="0"/>
          </a:p>
        </p:txBody>
      </p:sp>
      <p:sp>
        <p:nvSpPr>
          <p:cNvPr id="5" name="Text 3"/>
          <p:cNvSpPr txBox="1"/>
          <p:nvPr/>
        </p:nvSpPr>
        <p:spPr>
          <a:xfrm>
            <a:off x="548640" y="1097280"/>
            <a:ext cx="11094415" cy="777240"/>
          </a:xfrm>
          <a:prstGeom prst="rect">
            <a:avLst/>
          </a:prstGeom>
          <a:noFill/>
          <a:ln/>
        </p:spPr>
        <p:txBody>
          <a:bodyPr wrap="square" lIns="0" tIns="0" rIns="0" bIns="0" rtlCol="0" anchor="ctr"/>
          <a:lstStyle/>
          <a:p>
            <a:pPr indent="0" marL="0">
              <a:buNone/>
            </a:pPr>
            <a:r>
              <a:rPr lang="en-US" sz="3800" b="1" dirty="0">
                <a:solidFill>
                  <a:srgbClr val="F7F1E8"/>
                </a:solidFill>
                <a:latin typeface="Cambria" pitchFamily="34" charset="0"/>
                <a:ea typeface="Cambria" pitchFamily="34" charset="-122"/>
                <a:cs typeface="Cambria" pitchFamily="34" charset="-120"/>
              </a:rPr>
              <a:t>Bridging languages and cultures</a:t>
            </a:r>
            <a:endParaRPr lang="en-US" sz="3800" dirty="0"/>
          </a:p>
        </p:txBody>
      </p:sp>
      <p:sp>
        <p:nvSpPr>
          <p:cNvPr id="6"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B9AEA0"/>
                </a:solidFill>
                <a:latin typeface="Calibri" pitchFamily="34" charset="0"/>
                <a:ea typeface="Calibri" pitchFamily="34" charset="-122"/>
                <a:cs typeface="Calibri" pitchFamily="34" charset="-120"/>
              </a:rPr>
              <a:t>Jubair Md Ariful Islam · 王子</a:t>
            </a:r>
            <a:endParaRPr lang="en-US" sz="1000" dirty="0"/>
          </a:p>
        </p:txBody>
      </p:sp>
      <p:sp>
        <p:nvSpPr>
          <p:cNvPr id="7" name="Text 5"/>
          <p:cNvSpPr txBox="1"/>
          <p:nvPr/>
        </p:nvSpPr>
        <p:spPr>
          <a:xfrm>
            <a:off x="9814255" y="6400800"/>
            <a:ext cx="1828800" cy="274320"/>
          </a:xfrm>
          <a:prstGeom prst="rect">
            <a:avLst/>
          </a:prstGeom>
          <a:noFill/>
          <a:ln/>
        </p:spPr>
        <p:txBody>
          <a:bodyPr wrap="square" lIns="0" tIns="0" rIns="0" bIns="0" rtlCol="0" anchor="ctr"/>
          <a:lstStyle/>
          <a:p>
            <a:pPr algn="r" indent="0" marL="0">
              <a:buNone/>
            </a:pPr>
            <a:r>
              <a:rPr lang="en-US" sz="1000" dirty="0">
                <a:solidFill>
                  <a:srgbClr val="B9AEA0"/>
                </a:solidFill>
                <a:latin typeface="Calibri" pitchFamily="34" charset="0"/>
                <a:ea typeface="Calibri" pitchFamily="34" charset="-122"/>
                <a:cs typeface="Calibri" pitchFamily="34" charset="-120"/>
              </a:rPr>
              <a:t>09 / 11</a:t>
            </a:r>
            <a:endParaRPr lang="en-US" sz="1000" dirty="0"/>
          </a:p>
        </p:txBody>
      </p:sp>
      <p:pic>
        <p:nvPicPr>
          <p:cNvPr id="9" name="Helping Chinese students with spoken English" descr="Helping Chinese students with spoken English">    </p:cNvPr>
          <p:cNvPicPr>
            <a:picLocks noChangeAspect="1"/>
          </p:cNvPicPr>
          <p:nvPr/>
        </p:nvPicPr>
        <p:blipFill>
          <a:blip r:embed="rId1"/>
          <a:stretch>
            <a:fillRect/>
          </a:stretch>
        </p:blipFill>
        <p:spPr>
          <a:xfrm>
            <a:off x="548640" y="2103120"/>
            <a:ext cx="4937760" cy="3703320"/>
          </a:xfrm>
          <a:prstGeom prst="rect">
            <a:avLst/>
          </a:prstGeom>
        </p:spPr>
      </p:pic>
      <p:sp>
        <p:nvSpPr>
          <p:cNvPr id="10" name="Frame Helping Chinese students with spoken English"/>
          <p:cNvSpPr/>
          <p:nvPr/>
        </p:nvSpPr>
        <p:spPr>
          <a:xfrm>
            <a:off x="548640" y="2103120"/>
            <a:ext cx="4937760" cy="3703320"/>
          </a:xfrm>
          <a:prstGeom prst="rect">
            <a:avLst/>
          </a:prstGeom>
          <a:ln w="19050">
            <a:solidFill>
              <a:srgbClr val="E0B25A"/>
            </a:solidFill>
            <a:prstDash val="solid"/>
          </a:ln>
        </p:spPr>
      </p:sp>
      <p:pic>
        <p:nvPicPr>
          <p:cNvPr id="11" name="Helping international students understand Chinese culture" descr="Helping international students understand Chinese culture">    </p:cNvPr>
          <p:cNvPicPr>
            <a:picLocks noChangeAspect="1"/>
          </p:cNvPicPr>
          <p:nvPr/>
        </p:nvPicPr>
        <p:blipFill>
          <a:blip r:embed="rId2"/>
          <a:stretch>
            <a:fillRect/>
          </a:stretch>
        </p:blipFill>
        <p:spPr>
          <a:xfrm>
            <a:off x="5760720" y="2103120"/>
            <a:ext cx="2084832" cy="3703320"/>
          </a:xfrm>
          <a:prstGeom prst="rect">
            <a:avLst/>
          </a:prstGeom>
        </p:spPr>
      </p:pic>
      <p:sp>
        <p:nvSpPr>
          <p:cNvPr id="12" name="Frame Helping international students understand Chinese culture"/>
          <p:cNvSpPr/>
          <p:nvPr/>
        </p:nvSpPr>
        <p:spPr>
          <a:xfrm>
            <a:off x="5760720" y="2103120"/>
            <a:ext cx="2084832" cy="3703320"/>
          </a:xfrm>
          <a:prstGeom prst="rect">
            <a:avLst/>
          </a:prstGeom>
          <a:ln w="19050">
            <a:solidFill>
              <a:srgbClr val="E0B25A"/>
            </a:solidFill>
            <a:prstDash val="solid"/>
          </a:ln>
        </p:spPr>
      </p:sp>
      <p:sp>
        <p:nvSpPr>
          <p:cNvPr id="13" name="Text 8"/>
          <p:cNvSpPr txBox="1"/>
          <p:nvPr/>
        </p:nvSpPr>
        <p:spPr>
          <a:xfrm>
            <a:off x="548640" y="5897880"/>
            <a:ext cx="7315200" cy="320040"/>
          </a:xfrm>
          <a:prstGeom prst="rect">
            <a:avLst/>
          </a:prstGeom>
          <a:noFill/>
          <a:ln/>
        </p:spPr>
        <p:txBody>
          <a:bodyPr wrap="square" lIns="0" tIns="0" rIns="0" bIns="0" rtlCol="0" anchor="ctr"/>
          <a:lstStyle/>
          <a:p>
            <a:pPr indent="0" marL="0">
              <a:buNone/>
            </a:pPr>
            <a:r>
              <a:rPr lang="en-US" sz="1200" i="1" dirty="0">
                <a:solidFill>
                  <a:srgbClr val="B9AEA0"/>
                </a:solidFill>
                <a:latin typeface="Calibri" pitchFamily="34" charset="0"/>
                <a:ea typeface="Calibri" pitchFamily="34" charset="-122"/>
                <a:cs typeface="Calibri" pitchFamily="34" charset="-120"/>
              </a:rPr>
              <a:t>Volunteer English-speaking help · Helping international students explore China</a:t>
            </a:r>
            <a:endParaRPr lang="en-US" sz="1200" dirty="0"/>
          </a:p>
        </p:txBody>
      </p:sp>
      <p:sp>
        <p:nvSpPr>
          <p:cNvPr id="14" name="Icon disc"/>
          <p:cNvSpPr/>
          <p:nvPr/>
        </p:nvSpPr>
        <p:spPr>
          <a:xfrm>
            <a:off x="8183880" y="2103120"/>
            <a:ext cx="594360" cy="594360"/>
          </a:xfrm>
          <a:prstGeom prst="ellipse">
            <a:avLst/>
          </a:prstGeom>
          <a:solidFill>
            <a:srgbClr val="C8322B"/>
          </a:solidFill>
          <a:ln/>
        </p:spPr>
      </p:sp>
      <p:pic>
        <p:nvPicPr>
          <p:cNvPr id="15" name="Image 2" descr="comments icon">    </p:cNvPr>
          <p:cNvPicPr>
            <a:picLocks noChangeAspect="1"/>
          </p:cNvPicPr>
          <p:nvPr/>
        </p:nvPicPr>
        <p:blipFill>
          <a:blip r:embed="rId3"/>
          <a:stretch>
            <a:fillRect/>
          </a:stretch>
        </p:blipFill>
        <p:spPr>
          <a:xfrm>
            <a:off x="8326526" y="2245766"/>
            <a:ext cx="309067" cy="309067"/>
          </a:xfrm>
          <a:prstGeom prst="rect">
            <a:avLst/>
          </a:prstGeom>
        </p:spPr>
      </p:pic>
      <p:sp>
        <p:nvSpPr>
          <p:cNvPr id="16" name="Text 10"/>
          <p:cNvSpPr txBox="1"/>
          <p:nvPr/>
        </p:nvSpPr>
        <p:spPr>
          <a:xfrm>
            <a:off x="8961120" y="2103120"/>
            <a:ext cx="2679192" cy="594360"/>
          </a:xfrm>
          <a:prstGeom prst="rect">
            <a:avLst/>
          </a:prstGeom>
          <a:noFill/>
          <a:ln/>
        </p:spPr>
        <p:txBody>
          <a:bodyPr wrap="square" lIns="0" tIns="0" rIns="0" bIns="0" rtlCol="0" anchor="ctr"/>
          <a:lstStyle/>
          <a:p>
            <a:pPr indent="0" marL="0">
              <a:buNone/>
            </a:pPr>
            <a:r>
              <a:rPr lang="en-US" sz="1800" b="1" dirty="0">
                <a:solidFill>
                  <a:srgbClr val="F7F1E8"/>
                </a:solidFill>
                <a:latin typeface="Cambria" pitchFamily="34" charset="0"/>
                <a:ea typeface="Cambria" pitchFamily="34" charset="-122"/>
                <a:cs typeface="Cambria" pitchFamily="34" charset="-120"/>
              </a:rPr>
              <a:t>Spoken English, made easier</a:t>
            </a:r>
            <a:endParaRPr lang="en-US" sz="1800" dirty="0"/>
          </a:p>
        </p:txBody>
      </p:sp>
      <p:sp>
        <p:nvSpPr>
          <p:cNvPr id="17" name="Text 11"/>
          <p:cNvSpPr txBox="1"/>
          <p:nvPr/>
        </p:nvSpPr>
        <p:spPr>
          <a:xfrm>
            <a:off x="8183880" y="2834640"/>
            <a:ext cx="3456432" cy="1097280"/>
          </a:xfrm>
          <a:prstGeom prst="rect">
            <a:avLst/>
          </a:prstGeom>
          <a:noFill/>
          <a:ln/>
        </p:spPr>
        <p:txBody>
          <a:bodyPr wrap="square" lIns="0" tIns="0" rIns="0" bIns="0" rtlCol="0" anchor="t"/>
          <a:lstStyle/>
          <a:p>
            <a:pPr indent="0" marL="0">
              <a:buNone/>
            </a:pPr>
            <a:r>
              <a:rPr lang="en-US" sz="1500" dirty="0">
                <a:solidFill>
                  <a:srgbClr val="B9AEA0"/>
                </a:solidFill>
                <a:latin typeface="Calibri" pitchFamily="34" charset="0"/>
                <a:ea typeface="Calibri" pitchFamily="34" charset="-122"/>
                <a:cs typeface="Calibri" pitchFamily="34" charset="-120"/>
              </a:rPr>
              <a:t>Helped Chinese students improve their English speaking in a simpler way, and it worked.</a:t>
            </a:r>
            <a:endParaRPr lang="en-US" sz="1500" dirty="0"/>
          </a:p>
        </p:txBody>
      </p:sp>
      <p:sp>
        <p:nvSpPr>
          <p:cNvPr id="18" name="Icon disc"/>
          <p:cNvSpPr/>
          <p:nvPr/>
        </p:nvSpPr>
        <p:spPr>
          <a:xfrm>
            <a:off x="8183880" y="4114800"/>
            <a:ext cx="594360" cy="594360"/>
          </a:xfrm>
          <a:prstGeom prst="ellipse">
            <a:avLst/>
          </a:prstGeom>
          <a:solidFill>
            <a:srgbClr val="C8322B"/>
          </a:solidFill>
          <a:ln/>
        </p:spPr>
      </p:sp>
      <p:pic>
        <p:nvPicPr>
          <p:cNvPr id="19" name="Image 3" descr="globe icon">    </p:cNvPr>
          <p:cNvPicPr>
            <a:picLocks noChangeAspect="1"/>
          </p:cNvPicPr>
          <p:nvPr/>
        </p:nvPicPr>
        <p:blipFill>
          <a:blip r:embed="rId4"/>
          <a:stretch>
            <a:fillRect/>
          </a:stretch>
        </p:blipFill>
        <p:spPr>
          <a:xfrm>
            <a:off x="8326526" y="4257446"/>
            <a:ext cx="309067" cy="309067"/>
          </a:xfrm>
          <a:prstGeom prst="rect">
            <a:avLst/>
          </a:prstGeom>
        </p:spPr>
      </p:pic>
      <p:sp>
        <p:nvSpPr>
          <p:cNvPr id="20" name="Text 13"/>
          <p:cNvSpPr txBox="1"/>
          <p:nvPr/>
        </p:nvSpPr>
        <p:spPr>
          <a:xfrm>
            <a:off x="8961120" y="4114800"/>
            <a:ext cx="2679192" cy="594360"/>
          </a:xfrm>
          <a:prstGeom prst="rect">
            <a:avLst/>
          </a:prstGeom>
          <a:noFill/>
          <a:ln/>
        </p:spPr>
        <p:txBody>
          <a:bodyPr wrap="square" lIns="0" tIns="0" rIns="0" bIns="0" rtlCol="0" anchor="ctr"/>
          <a:lstStyle/>
          <a:p>
            <a:pPr indent="0" marL="0">
              <a:buNone/>
            </a:pPr>
            <a:r>
              <a:rPr lang="en-US" sz="1800" b="1" dirty="0">
                <a:solidFill>
                  <a:srgbClr val="F7F1E8"/>
                </a:solidFill>
                <a:latin typeface="Cambria" pitchFamily="34" charset="0"/>
                <a:ea typeface="Cambria" pitchFamily="34" charset="-122"/>
                <a:cs typeface="Cambria" pitchFamily="34" charset="-120"/>
              </a:rPr>
              <a:t>Understanding China</a:t>
            </a:r>
            <a:endParaRPr lang="en-US" sz="1800" dirty="0"/>
          </a:p>
        </p:txBody>
      </p:sp>
      <p:sp>
        <p:nvSpPr>
          <p:cNvPr id="21" name="Text 14"/>
          <p:cNvSpPr txBox="1"/>
          <p:nvPr/>
        </p:nvSpPr>
        <p:spPr>
          <a:xfrm>
            <a:off x="8183880" y="4846320"/>
            <a:ext cx="3456432" cy="1097280"/>
          </a:xfrm>
          <a:prstGeom prst="rect">
            <a:avLst/>
          </a:prstGeom>
          <a:noFill/>
          <a:ln/>
        </p:spPr>
        <p:txBody>
          <a:bodyPr wrap="square" lIns="0" tIns="0" rIns="0" bIns="0" rtlCol="0" anchor="t"/>
          <a:lstStyle/>
          <a:p>
            <a:pPr indent="0" marL="0">
              <a:buNone/>
            </a:pPr>
            <a:r>
              <a:rPr lang="en-US" sz="1500" dirty="0">
                <a:solidFill>
                  <a:srgbClr val="B9AEA0"/>
                </a:solidFill>
                <a:latin typeface="Calibri" pitchFamily="34" charset="0"/>
                <a:ea typeface="Calibri" pitchFamily="34" charset="-122"/>
                <a:cs typeface="Calibri" pitchFamily="34" charset="-120"/>
              </a:rPr>
              <a:t>Helped international students understand the culture of China.</a:t>
            </a:r>
            <a:endParaRPr lang="en-US" sz="15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10F"/>
        </a:solidFill>
      </p:bgPr>
    </p:bg>
    <p:spTree>
      <p:nvGrpSpPr>
        <p:cNvPr id="1" name=""/>
        <p:cNvGrpSpPr/>
        <p:nvPr/>
      </p:nvGrpSpPr>
      <p:grpSpPr>
        <a:xfrm>
          <a:off x="0" y="0"/>
          <a:ext cx="0" cy="0"/>
          <a:chOff x="0" y="0"/>
          <a:chExt cx="0" cy="0"/>
        </a:xfrm>
      </p:grpSpPr>
      <p:sp>
        <p:nvSpPr>
          <p:cNvPr id="2" name="Seal"/>
          <p:cNvSpPr/>
          <p:nvPr/>
        </p:nvSpPr>
        <p:spPr>
          <a:xfrm>
            <a:off x="548640" y="457200"/>
            <a:ext cx="566928" cy="566928"/>
          </a:xfrm>
          <a:prstGeom prst="roundRect">
            <a:avLst>
              <a:gd name="adj" fmla="val 9677"/>
            </a:avLst>
          </a:prstGeom>
          <a:solidFill>
            <a:srgbClr val="C8322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356" b="1" dirty="0">
                <a:solidFill>
                  <a:srgbClr val="FFFFFF"/>
                </a:solidFill>
                <a:latin typeface="Microsoft YaHei" pitchFamily="34" charset="0"/>
                <a:ea typeface="Microsoft YaHei" pitchFamily="34" charset="-122"/>
                <a:cs typeface="Microsoft YaHei" pitchFamily="34" charset="-120"/>
              </a:rPr>
              <a:t>年</a:t>
            </a:r>
            <a:endParaRPr lang="en-US" sz="2356" dirty="0"/>
          </a:p>
        </p:txBody>
      </p:sp>
      <p:sp>
        <p:nvSpPr>
          <p:cNvPr id="4" name="Text 2"/>
          <p:cNvSpPr txBox="1"/>
          <p:nvPr/>
        </p:nvSpPr>
        <p:spPr>
          <a:xfrm>
            <a:off x="1280160" y="457200"/>
            <a:ext cx="8229600" cy="566928"/>
          </a:xfrm>
          <a:prstGeom prst="rect">
            <a:avLst/>
          </a:prstGeom>
          <a:noFill/>
          <a:ln/>
        </p:spPr>
        <p:txBody>
          <a:bodyPr wrap="square" lIns="0" tIns="0" rIns="0" bIns="0" rtlCol="0" anchor="ctr"/>
          <a:lstStyle/>
          <a:p>
            <a:pPr indent="0" marL="0">
              <a:buNone/>
            </a:pPr>
            <a:r>
              <a:rPr lang="en-US" sz="1300" b="1" spc="300" kern="0" dirty="0">
                <a:solidFill>
                  <a:srgbClr val="E0B25A"/>
                </a:solidFill>
                <a:latin typeface="Calibri" pitchFamily="34" charset="0"/>
                <a:ea typeface="Calibri" pitchFamily="34" charset="-122"/>
                <a:cs typeface="Calibri" pitchFamily="34" charset="-120"/>
              </a:rPr>
              <a:t>3 · ACTIVITIES · THE YEAR</a:t>
            </a:r>
            <a:endParaRPr lang="en-US" sz="1300" dirty="0"/>
          </a:p>
        </p:txBody>
      </p:sp>
      <p:sp>
        <p:nvSpPr>
          <p:cNvPr id="5" name="Text 3"/>
          <p:cNvSpPr txBox="1"/>
          <p:nvPr/>
        </p:nvSpPr>
        <p:spPr>
          <a:xfrm>
            <a:off x="548640" y="1097280"/>
            <a:ext cx="11094415" cy="777240"/>
          </a:xfrm>
          <a:prstGeom prst="rect">
            <a:avLst/>
          </a:prstGeom>
          <a:noFill/>
          <a:ln/>
        </p:spPr>
        <p:txBody>
          <a:bodyPr wrap="square" lIns="0" tIns="0" rIns="0" bIns="0" rtlCol="0" anchor="ctr"/>
          <a:lstStyle/>
          <a:p>
            <a:pPr indent="0" marL="0">
              <a:buNone/>
            </a:pPr>
            <a:r>
              <a:rPr lang="en-US" sz="3800" b="1" dirty="0">
                <a:solidFill>
                  <a:srgbClr val="F7F1E8"/>
                </a:solidFill>
                <a:latin typeface="Cambria" pitchFamily="34" charset="0"/>
                <a:ea typeface="Cambria" pitchFamily="34" charset="-122"/>
                <a:cs typeface="Cambria" pitchFamily="34" charset="-120"/>
              </a:rPr>
              <a:t>One year, many stops</a:t>
            </a:r>
            <a:endParaRPr lang="en-US" sz="3800" dirty="0"/>
          </a:p>
        </p:txBody>
      </p:sp>
      <p:sp>
        <p:nvSpPr>
          <p:cNvPr id="6"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B9AEA0"/>
                </a:solidFill>
                <a:latin typeface="Calibri" pitchFamily="34" charset="0"/>
                <a:ea typeface="Calibri" pitchFamily="34" charset="-122"/>
                <a:cs typeface="Calibri" pitchFamily="34" charset="-120"/>
              </a:rPr>
              <a:t>Jubair Md Ariful Islam · 王子</a:t>
            </a:r>
            <a:endParaRPr lang="en-US" sz="1000" dirty="0"/>
          </a:p>
        </p:txBody>
      </p:sp>
      <p:sp>
        <p:nvSpPr>
          <p:cNvPr id="7" name="Text 5"/>
          <p:cNvSpPr txBox="1"/>
          <p:nvPr/>
        </p:nvSpPr>
        <p:spPr>
          <a:xfrm>
            <a:off x="9814255" y="6400800"/>
            <a:ext cx="1828800" cy="274320"/>
          </a:xfrm>
          <a:prstGeom prst="rect">
            <a:avLst/>
          </a:prstGeom>
          <a:noFill/>
          <a:ln/>
        </p:spPr>
        <p:txBody>
          <a:bodyPr wrap="square" lIns="0" tIns="0" rIns="0" bIns="0" rtlCol="0" anchor="ctr"/>
          <a:lstStyle/>
          <a:p>
            <a:pPr algn="r" indent="0" marL="0">
              <a:buNone/>
            </a:pPr>
            <a:r>
              <a:rPr lang="en-US" sz="1000" dirty="0">
                <a:solidFill>
                  <a:srgbClr val="B9AEA0"/>
                </a:solidFill>
                <a:latin typeface="Calibri" pitchFamily="34" charset="0"/>
                <a:ea typeface="Calibri" pitchFamily="34" charset="-122"/>
                <a:cs typeface="Calibri" pitchFamily="34" charset="-120"/>
              </a:rPr>
              <a:t>10 / 11</a:t>
            </a:r>
            <a:endParaRPr lang="en-US" sz="1000" dirty="0"/>
          </a:p>
        </p:txBody>
      </p:sp>
      <p:sp>
        <p:nvSpPr>
          <p:cNvPr id="9" name="Event card"/>
          <p:cNvSpPr/>
          <p:nvPr/>
        </p:nvSpPr>
        <p:spPr>
          <a:xfrm>
            <a:off x="548640" y="2057400"/>
            <a:ext cx="2606040" cy="1234440"/>
          </a:xfrm>
          <a:prstGeom prst="roundRect">
            <a:avLst>
              <a:gd name="adj" fmla="val 7407"/>
            </a:avLst>
          </a:prstGeom>
          <a:solidFill>
            <a:srgbClr val="221C18"/>
          </a:solidFill>
          <a:ln w="9525">
            <a:solidFill>
              <a:srgbClr val="3A312A"/>
            </a:solidFill>
            <a:prstDash val="solid"/>
          </a:ln>
        </p:spPr>
      </p:sp>
      <p:sp>
        <p:nvSpPr>
          <p:cNvPr id="10" name="Text 7"/>
          <p:cNvSpPr txBox="1"/>
          <p:nvPr/>
        </p:nvSpPr>
        <p:spPr>
          <a:xfrm>
            <a:off x="731520" y="2057400"/>
            <a:ext cx="2240280" cy="1234440"/>
          </a:xfrm>
          <a:prstGeom prst="rect">
            <a:avLst/>
          </a:prstGeom>
          <a:noFill/>
          <a:ln/>
        </p:spPr>
        <p:txBody>
          <a:bodyPr wrap="square" lIns="0" tIns="0" rIns="0" bIns="0" rtlCol="0" anchor="ctr"/>
          <a:lstStyle/>
          <a:p>
            <a:pPr indent="0" marL="0">
              <a:buNone/>
            </a:pPr>
            <a:r>
              <a:rPr lang="en-US" sz="1200" b="1" spc="200" kern="0" dirty="0">
                <a:solidFill>
                  <a:srgbClr val="E0B25A"/>
                </a:solidFill>
                <a:latin typeface="Calibri" pitchFamily="34" charset="0"/>
                <a:ea typeface="Calibri" pitchFamily="34" charset="-122"/>
                <a:cs typeface="Calibri" pitchFamily="34" charset="-120"/>
              </a:rPr>
              <a:t>JUL 2025</a:t>
            </a:r>
            <a:endParaRPr lang="en-US" sz="1200" dirty="0"/>
          </a:p>
          <a:p>
            <a:pPr indent="0" marL="0">
              <a:buNone/>
            </a:pPr>
            <a:r>
              <a:rPr lang="en-US" sz="1500" dirty="0">
                <a:solidFill>
                  <a:srgbClr val="FFFFFF"/>
                </a:solidFill>
                <a:latin typeface="Calibri" pitchFamily="34" charset="0"/>
                <a:ea typeface="Calibri" pitchFamily="34" charset="-122"/>
                <a:cs typeface="Calibri" pitchFamily="34" charset="-120"/>
              </a:rPr>
              <a:t>Class monitor, International Business</a:t>
            </a:r>
            <a:endParaRPr lang="en-US" sz="1200" dirty="0"/>
          </a:p>
        </p:txBody>
      </p:sp>
      <p:sp>
        <p:nvSpPr>
          <p:cNvPr id="11" name="Event card"/>
          <p:cNvSpPr/>
          <p:nvPr/>
        </p:nvSpPr>
        <p:spPr>
          <a:xfrm>
            <a:off x="3383280" y="2057400"/>
            <a:ext cx="2606040" cy="1234440"/>
          </a:xfrm>
          <a:prstGeom prst="roundRect">
            <a:avLst>
              <a:gd name="adj" fmla="val 7407"/>
            </a:avLst>
          </a:prstGeom>
          <a:solidFill>
            <a:srgbClr val="221C18"/>
          </a:solidFill>
          <a:ln w="9525">
            <a:solidFill>
              <a:srgbClr val="3A312A"/>
            </a:solidFill>
            <a:prstDash val="solid"/>
          </a:ln>
        </p:spPr>
      </p:sp>
      <p:sp>
        <p:nvSpPr>
          <p:cNvPr id="12" name="Text 9"/>
          <p:cNvSpPr txBox="1"/>
          <p:nvPr/>
        </p:nvSpPr>
        <p:spPr>
          <a:xfrm>
            <a:off x="3566160" y="2057400"/>
            <a:ext cx="2240280" cy="1234440"/>
          </a:xfrm>
          <a:prstGeom prst="rect">
            <a:avLst/>
          </a:prstGeom>
          <a:noFill/>
          <a:ln/>
        </p:spPr>
        <p:txBody>
          <a:bodyPr wrap="square" lIns="0" tIns="0" rIns="0" bIns="0" rtlCol="0" anchor="ctr"/>
          <a:lstStyle/>
          <a:p>
            <a:pPr indent="0" marL="0">
              <a:buNone/>
            </a:pPr>
            <a:r>
              <a:rPr lang="en-US" sz="1200" b="1" spc="200" kern="0" dirty="0">
                <a:solidFill>
                  <a:srgbClr val="E0B25A"/>
                </a:solidFill>
                <a:latin typeface="Calibri" pitchFamily="34" charset="0"/>
                <a:ea typeface="Calibri" pitchFamily="34" charset="-122"/>
                <a:cs typeface="Calibri" pitchFamily="34" charset="-120"/>
              </a:rPr>
              <a:t>29 SEP 2025</a:t>
            </a:r>
            <a:endParaRPr lang="en-US" sz="1200" dirty="0"/>
          </a:p>
          <a:p>
            <a:pPr indent="0" marL="0">
              <a:buNone/>
            </a:pPr>
            <a:r>
              <a:rPr lang="en-US" sz="1500" dirty="0">
                <a:solidFill>
                  <a:srgbClr val="FFFFFF"/>
                </a:solidFill>
                <a:latin typeface="Calibri" pitchFamily="34" charset="0"/>
                <a:ea typeface="Calibri" pitchFamily="34" charset="-122"/>
                <a:cs typeface="Calibri" pitchFamily="34" charset="-120"/>
              </a:rPr>
              <a:t>Hosted the Mid-Autumn Festival</a:t>
            </a:r>
            <a:endParaRPr lang="en-US" sz="1200" dirty="0"/>
          </a:p>
        </p:txBody>
      </p:sp>
      <p:sp>
        <p:nvSpPr>
          <p:cNvPr id="13" name="Event card"/>
          <p:cNvSpPr/>
          <p:nvPr/>
        </p:nvSpPr>
        <p:spPr>
          <a:xfrm>
            <a:off x="6217920" y="2057400"/>
            <a:ext cx="2606040" cy="1234440"/>
          </a:xfrm>
          <a:prstGeom prst="roundRect">
            <a:avLst>
              <a:gd name="adj" fmla="val 7407"/>
            </a:avLst>
          </a:prstGeom>
          <a:solidFill>
            <a:srgbClr val="221C18"/>
          </a:solidFill>
          <a:ln w="9525">
            <a:solidFill>
              <a:srgbClr val="3A312A"/>
            </a:solidFill>
            <a:prstDash val="solid"/>
          </a:ln>
        </p:spPr>
      </p:sp>
      <p:sp>
        <p:nvSpPr>
          <p:cNvPr id="14" name="Text 11"/>
          <p:cNvSpPr txBox="1"/>
          <p:nvPr/>
        </p:nvSpPr>
        <p:spPr>
          <a:xfrm>
            <a:off x="6400800" y="2057400"/>
            <a:ext cx="2240280" cy="1234440"/>
          </a:xfrm>
          <a:prstGeom prst="rect">
            <a:avLst/>
          </a:prstGeom>
          <a:noFill/>
          <a:ln/>
        </p:spPr>
        <p:txBody>
          <a:bodyPr wrap="square" lIns="0" tIns="0" rIns="0" bIns="0" rtlCol="0" anchor="ctr"/>
          <a:lstStyle/>
          <a:p>
            <a:pPr indent="0" marL="0">
              <a:buNone/>
            </a:pPr>
            <a:r>
              <a:rPr lang="en-US" sz="1200" b="1" spc="200" kern="0" dirty="0">
                <a:solidFill>
                  <a:srgbClr val="E0B25A"/>
                </a:solidFill>
                <a:latin typeface="Calibri" pitchFamily="34" charset="0"/>
                <a:ea typeface="Calibri" pitchFamily="34" charset="-122"/>
                <a:cs typeface="Calibri" pitchFamily="34" charset="-120"/>
              </a:rPr>
              <a:t>3 NOV</a:t>
            </a:r>
            <a:endParaRPr lang="en-US" sz="1200" dirty="0"/>
          </a:p>
          <a:p>
            <a:pPr indent="0" marL="0">
              <a:buNone/>
            </a:pPr>
            <a:r>
              <a:rPr lang="en-US" sz="1500" dirty="0">
                <a:solidFill>
                  <a:srgbClr val="FFFFFF"/>
                </a:solidFill>
                <a:latin typeface="Calibri" pitchFamily="34" charset="0"/>
                <a:ea typeface="Calibri" pitchFamily="34" charset="-122"/>
                <a:cs typeface="Calibri" pitchFamily="34" charset="-120"/>
              </a:rPr>
              <a:t>Chinese chess class</a:t>
            </a:r>
            <a:endParaRPr lang="en-US" sz="1200" dirty="0"/>
          </a:p>
        </p:txBody>
      </p:sp>
      <p:sp>
        <p:nvSpPr>
          <p:cNvPr id="15" name="Event card"/>
          <p:cNvSpPr/>
          <p:nvPr/>
        </p:nvSpPr>
        <p:spPr>
          <a:xfrm>
            <a:off x="9052560" y="2057400"/>
            <a:ext cx="2606040" cy="1234440"/>
          </a:xfrm>
          <a:prstGeom prst="roundRect">
            <a:avLst>
              <a:gd name="adj" fmla="val 7407"/>
            </a:avLst>
          </a:prstGeom>
          <a:solidFill>
            <a:srgbClr val="221C18"/>
          </a:solidFill>
          <a:ln w="9525">
            <a:solidFill>
              <a:srgbClr val="3A312A"/>
            </a:solidFill>
            <a:prstDash val="solid"/>
          </a:ln>
        </p:spPr>
      </p:sp>
      <p:sp>
        <p:nvSpPr>
          <p:cNvPr id="16" name="Text 13"/>
          <p:cNvSpPr txBox="1"/>
          <p:nvPr/>
        </p:nvSpPr>
        <p:spPr>
          <a:xfrm>
            <a:off x="9235440" y="2057400"/>
            <a:ext cx="2240280" cy="1234440"/>
          </a:xfrm>
          <a:prstGeom prst="rect">
            <a:avLst/>
          </a:prstGeom>
          <a:noFill/>
          <a:ln/>
        </p:spPr>
        <p:txBody>
          <a:bodyPr wrap="square" lIns="0" tIns="0" rIns="0" bIns="0" rtlCol="0" anchor="ctr"/>
          <a:lstStyle/>
          <a:p>
            <a:pPr indent="0" marL="0">
              <a:buNone/>
            </a:pPr>
            <a:r>
              <a:rPr lang="en-US" sz="1200" b="1" spc="200" kern="0" dirty="0">
                <a:solidFill>
                  <a:srgbClr val="E0B25A"/>
                </a:solidFill>
                <a:latin typeface="Calibri" pitchFamily="34" charset="0"/>
                <a:ea typeface="Calibri" pitchFamily="34" charset="-122"/>
                <a:cs typeface="Calibri" pitchFamily="34" charset="-120"/>
              </a:rPr>
              <a:t>8 NOV</a:t>
            </a:r>
            <a:endParaRPr lang="en-US" sz="1200" dirty="0"/>
          </a:p>
          <a:p>
            <a:pPr indent="0" marL="0">
              <a:buNone/>
            </a:pPr>
            <a:r>
              <a:rPr lang="en-US" sz="1500" dirty="0">
                <a:solidFill>
                  <a:srgbClr val="FFFFFF"/>
                </a:solidFill>
                <a:latin typeface="Calibri" pitchFamily="34" charset="0"/>
                <a:ea typeface="Calibri" pitchFamily="34" charset="-122"/>
                <a:cs typeface="Calibri" pitchFamily="34" charset="-120"/>
              </a:rPr>
              <a:t>High-speed rail seminar</a:t>
            </a:r>
            <a:endParaRPr lang="en-US" sz="1200" dirty="0"/>
          </a:p>
        </p:txBody>
      </p:sp>
      <p:sp>
        <p:nvSpPr>
          <p:cNvPr id="17" name="Event card"/>
          <p:cNvSpPr/>
          <p:nvPr/>
        </p:nvSpPr>
        <p:spPr>
          <a:xfrm>
            <a:off x="548640" y="3474720"/>
            <a:ext cx="2606040" cy="1234440"/>
          </a:xfrm>
          <a:prstGeom prst="roundRect">
            <a:avLst>
              <a:gd name="adj" fmla="val 7407"/>
            </a:avLst>
          </a:prstGeom>
          <a:solidFill>
            <a:srgbClr val="221C18"/>
          </a:solidFill>
          <a:ln w="9525">
            <a:solidFill>
              <a:srgbClr val="3A312A"/>
            </a:solidFill>
            <a:prstDash val="solid"/>
          </a:ln>
        </p:spPr>
      </p:sp>
      <p:sp>
        <p:nvSpPr>
          <p:cNvPr id="18" name="Text 15"/>
          <p:cNvSpPr txBox="1"/>
          <p:nvPr/>
        </p:nvSpPr>
        <p:spPr>
          <a:xfrm>
            <a:off x="731520" y="3474720"/>
            <a:ext cx="2240280" cy="1234440"/>
          </a:xfrm>
          <a:prstGeom prst="rect">
            <a:avLst/>
          </a:prstGeom>
          <a:noFill/>
          <a:ln/>
        </p:spPr>
        <p:txBody>
          <a:bodyPr wrap="square" lIns="0" tIns="0" rIns="0" bIns="0" rtlCol="0" anchor="ctr"/>
          <a:lstStyle/>
          <a:p>
            <a:pPr indent="0" marL="0">
              <a:buNone/>
            </a:pPr>
            <a:r>
              <a:rPr lang="en-US" sz="1200" b="1" spc="200" kern="0" dirty="0">
                <a:solidFill>
                  <a:srgbClr val="E0B25A"/>
                </a:solidFill>
                <a:latin typeface="Calibri" pitchFamily="34" charset="0"/>
                <a:ea typeface="Calibri" pitchFamily="34" charset="-122"/>
                <a:cs typeface="Calibri" pitchFamily="34" charset="-120"/>
              </a:rPr>
              <a:t>13 NOV</a:t>
            </a:r>
            <a:endParaRPr lang="en-US" sz="1200" dirty="0"/>
          </a:p>
          <a:p>
            <a:pPr indent="0" marL="0">
              <a:buNone/>
            </a:pPr>
            <a:r>
              <a:rPr lang="en-US" sz="1500" dirty="0">
                <a:solidFill>
                  <a:srgbClr val="FFFFFF"/>
                </a:solidFill>
                <a:latin typeface="Calibri" pitchFamily="34" charset="0"/>
                <a:ea typeface="Calibri" pitchFamily="34" charset="-122"/>
                <a:cs typeface="Calibri" pitchFamily="34" charset="-120"/>
              </a:rPr>
              <a:t>Volunteered, English language club</a:t>
            </a:r>
            <a:endParaRPr lang="en-US" sz="1200" dirty="0"/>
          </a:p>
        </p:txBody>
      </p:sp>
      <p:sp>
        <p:nvSpPr>
          <p:cNvPr id="19" name="Event card"/>
          <p:cNvSpPr/>
          <p:nvPr/>
        </p:nvSpPr>
        <p:spPr>
          <a:xfrm>
            <a:off x="3383280" y="3474720"/>
            <a:ext cx="2606040" cy="1234440"/>
          </a:xfrm>
          <a:prstGeom prst="roundRect">
            <a:avLst>
              <a:gd name="adj" fmla="val 7407"/>
            </a:avLst>
          </a:prstGeom>
          <a:solidFill>
            <a:srgbClr val="221C18"/>
          </a:solidFill>
          <a:ln w="9525">
            <a:solidFill>
              <a:srgbClr val="3A312A"/>
            </a:solidFill>
            <a:prstDash val="solid"/>
          </a:ln>
        </p:spPr>
      </p:sp>
      <p:sp>
        <p:nvSpPr>
          <p:cNvPr id="20" name="Text 17"/>
          <p:cNvSpPr txBox="1"/>
          <p:nvPr/>
        </p:nvSpPr>
        <p:spPr>
          <a:xfrm>
            <a:off x="3566160" y="3474720"/>
            <a:ext cx="2240280" cy="1234440"/>
          </a:xfrm>
          <a:prstGeom prst="rect">
            <a:avLst/>
          </a:prstGeom>
          <a:noFill/>
          <a:ln/>
        </p:spPr>
        <p:txBody>
          <a:bodyPr wrap="square" lIns="0" tIns="0" rIns="0" bIns="0" rtlCol="0" anchor="ctr"/>
          <a:lstStyle/>
          <a:p>
            <a:pPr indent="0" marL="0">
              <a:buNone/>
            </a:pPr>
            <a:r>
              <a:rPr lang="en-US" sz="1200" b="1" spc="200" kern="0" dirty="0">
                <a:solidFill>
                  <a:srgbClr val="E0B25A"/>
                </a:solidFill>
                <a:latin typeface="Calibri" pitchFamily="34" charset="0"/>
                <a:ea typeface="Calibri" pitchFamily="34" charset="-122"/>
                <a:cs typeface="Calibri" pitchFamily="34" charset="-120"/>
              </a:rPr>
              <a:t>NOV 2025</a:t>
            </a:r>
            <a:endParaRPr lang="en-US" sz="1200" dirty="0"/>
          </a:p>
          <a:p>
            <a:pPr indent="0" marL="0">
              <a:buNone/>
            </a:pPr>
            <a:r>
              <a:rPr lang="en-US" sz="1500" dirty="0">
                <a:solidFill>
                  <a:srgbClr val="FFFFFF"/>
                </a:solidFill>
                <a:latin typeface="Calibri" pitchFamily="34" charset="0"/>
                <a:ea typeface="Calibri" pitchFamily="34" charset="-122"/>
                <a:cs typeface="Calibri" pitchFamily="34" charset="-120"/>
              </a:rPr>
              <a:t>Elected VP, Student Council Academic Dept.</a:t>
            </a:r>
            <a:endParaRPr lang="en-US" sz="1200" dirty="0"/>
          </a:p>
        </p:txBody>
      </p:sp>
      <p:sp>
        <p:nvSpPr>
          <p:cNvPr id="21" name="Event card"/>
          <p:cNvSpPr/>
          <p:nvPr/>
        </p:nvSpPr>
        <p:spPr>
          <a:xfrm>
            <a:off x="6217920" y="3474720"/>
            <a:ext cx="2606040" cy="1234440"/>
          </a:xfrm>
          <a:prstGeom prst="roundRect">
            <a:avLst>
              <a:gd name="adj" fmla="val 7407"/>
            </a:avLst>
          </a:prstGeom>
          <a:solidFill>
            <a:srgbClr val="221C18"/>
          </a:solidFill>
          <a:ln w="9525">
            <a:solidFill>
              <a:srgbClr val="3A312A"/>
            </a:solidFill>
            <a:prstDash val="solid"/>
          </a:ln>
        </p:spPr>
      </p:sp>
      <p:sp>
        <p:nvSpPr>
          <p:cNvPr id="22" name="Text 19"/>
          <p:cNvSpPr txBox="1"/>
          <p:nvPr/>
        </p:nvSpPr>
        <p:spPr>
          <a:xfrm>
            <a:off x="6400800" y="3474720"/>
            <a:ext cx="2240280" cy="1234440"/>
          </a:xfrm>
          <a:prstGeom prst="rect">
            <a:avLst/>
          </a:prstGeom>
          <a:noFill/>
          <a:ln/>
        </p:spPr>
        <p:txBody>
          <a:bodyPr wrap="square" lIns="0" tIns="0" rIns="0" bIns="0" rtlCol="0" anchor="ctr"/>
          <a:lstStyle/>
          <a:p>
            <a:pPr indent="0" marL="0">
              <a:buNone/>
            </a:pPr>
            <a:r>
              <a:rPr lang="en-US" sz="1200" b="1" spc="200" kern="0" dirty="0">
                <a:solidFill>
                  <a:srgbClr val="E0B25A"/>
                </a:solidFill>
                <a:latin typeface="Calibri" pitchFamily="34" charset="0"/>
                <a:ea typeface="Calibri" pitchFamily="34" charset="-122"/>
                <a:cs typeface="Calibri" pitchFamily="34" charset="-120"/>
              </a:rPr>
              <a:t>15 DEC</a:t>
            </a:r>
            <a:endParaRPr lang="en-US" sz="1200" dirty="0"/>
          </a:p>
          <a:p>
            <a:pPr indent="0" marL="0">
              <a:buNone/>
            </a:pPr>
            <a:r>
              <a:rPr lang="en-US" sz="1500" dirty="0">
                <a:solidFill>
                  <a:srgbClr val="FFFFFF"/>
                </a:solidFill>
                <a:latin typeface="Calibri" pitchFamily="34" charset="0"/>
                <a:ea typeface="Calibri" pitchFamily="34" charset="-122"/>
                <a:cs typeface="Calibri" pitchFamily="34" charset="-120"/>
              </a:rPr>
              <a:t>Study tour, Zhou Enlai Memorial Hall</a:t>
            </a:r>
            <a:endParaRPr lang="en-US" sz="1200" dirty="0"/>
          </a:p>
        </p:txBody>
      </p:sp>
      <p:sp>
        <p:nvSpPr>
          <p:cNvPr id="23" name="Event card"/>
          <p:cNvSpPr/>
          <p:nvPr/>
        </p:nvSpPr>
        <p:spPr>
          <a:xfrm>
            <a:off x="9052560" y="3474720"/>
            <a:ext cx="2606040" cy="1234440"/>
          </a:xfrm>
          <a:prstGeom prst="roundRect">
            <a:avLst>
              <a:gd name="adj" fmla="val 7407"/>
            </a:avLst>
          </a:prstGeom>
          <a:solidFill>
            <a:srgbClr val="C8322B"/>
          </a:solidFill>
          <a:ln w="9525">
            <a:solidFill>
              <a:srgbClr val="C8322B"/>
            </a:solidFill>
            <a:prstDash val="solid"/>
          </a:ln>
        </p:spPr>
      </p:sp>
      <p:sp>
        <p:nvSpPr>
          <p:cNvPr id="24" name="Text 21"/>
          <p:cNvSpPr txBox="1"/>
          <p:nvPr/>
        </p:nvSpPr>
        <p:spPr>
          <a:xfrm>
            <a:off x="9235440" y="3474720"/>
            <a:ext cx="2240280" cy="1234440"/>
          </a:xfrm>
          <a:prstGeom prst="rect">
            <a:avLst/>
          </a:prstGeom>
          <a:noFill/>
          <a:ln/>
        </p:spPr>
        <p:txBody>
          <a:bodyPr wrap="square" lIns="0" tIns="0" rIns="0" bIns="0" rtlCol="0" anchor="ctr"/>
          <a:lstStyle/>
          <a:p>
            <a:pPr indent="0" marL="0">
              <a:buNone/>
            </a:pPr>
            <a:r>
              <a:rPr lang="en-US" sz="1200" b="1" spc="200" kern="0" dirty="0">
                <a:solidFill>
                  <a:srgbClr val="FFE9D6"/>
                </a:solidFill>
                <a:latin typeface="Calibri" pitchFamily="34" charset="0"/>
                <a:ea typeface="Calibri" pitchFamily="34" charset="-122"/>
                <a:cs typeface="Calibri" pitchFamily="34" charset="-120"/>
              </a:rPr>
              <a:t>29 DEC</a:t>
            </a:r>
            <a:endParaRPr lang="en-US" sz="1200" dirty="0"/>
          </a:p>
          <a:p>
            <a:pPr indent="0" marL="0">
              <a:buNone/>
            </a:pPr>
            <a:r>
              <a:rPr lang="en-US" sz="1500" dirty="0">
                <a:solidFill>
                  <a:srgbClr val="FFFFFF"/>
                </a:solidFill>
                <a:latin typeface="Calibri" pitchFamily="34" charset="0"/>
                <a:ea typeface="Calibri" pitchFamily="34" charset="-122"/>
                <a:cs typeface="Calibri" pitchFamily="34" charset="-120"/>
              </a:rPr>
              <a:t>Jiangsu calligraphy award · New Year celebration</a:t>
            </a:r>
            <a:endParaRPr lang="en-US" sz="1200" dirty="0"/>
          </a:p>
        </p:txBody>
      </p:sp>
      <p:sp>
        <p:nvSpPr>
          <p:cNvPr id="25" name="Event card"/>
          <p:cNvSpPr/>
          <p:nvPr/>
        </p:nvSpPr>
        <p:spPr>
          <a:xfrm>
            <a:off x="548640" y="4892040"/>
            <a:ext cx="2606040" cy="1234440"/>
          </a:xfrm>
          <a:prstGeom prst="roundRect">
            <a:avLst>
              <a:gd name="adj" fmla="val 7407"/>
            </a:avLst>
          </a:prstGeom>
          <a:solidFill>
            <a:srgbClr val="221C18"/>
          </a:solidFill>
          <a:ln w="9525">
            <a:solidFill>
              <a:srgbClr val="3A312A"/>
            </a:solidFill>
            <a:prstDash val="solid"/>
          </a:ln>
        </p:spPr>
      </p:sp>
      <p:sp>
        <p:nvSpPr>
          <p:cNvPr id="26" name="Text 23"/>
          <p:cNvSpPr txBox="1"/>
          <p:nvPr/>
        </p:nvSpPr>
        <p:spPr>
          <a:xfrm>
            <a:off x="731520" y="4892040"/>
            <a:ext cx="2240280" cy="1234440"/>
          </a:xfrm>
          <a:prstGeom prst="rect">
            <a:avLst/>
          </a:prstGeom>
          <a:noFill/>
          <a:ln/>
        </p:spPr>
        <p:txBody>
          <a:bodyPr wrap="square" lIns="0" tIns="0" rIns="0" bIns="0" rtlCol="0" anchor="ctr"/>
          <a:lstStyle/>
          <a:p>
            <a:pPr indent="0" marL="0">
              <a:buNone/>
            </a:pPr>
            <a:r>
              <a:rPr lang="en-US" sz="1200" b="1" spc="200" kern="0" dirty="0">
                <a:solidFill>
                  <a:srgbClr val="E0B25A"/>
                </a:solidFill>
                <a:latin typeface="Calibri" pitchFamily="34" charset="0"/>
                <a:ea typeface="Calibri" pitchFamily="34" charset="-122"/>
                <a:cs typeface="Calibri" pitchFamily="34" charset="-120"/>
              </a:rPr>
              <a:t>12 APR 2026</a:t>
            </a:r>
            <a:endParaRPr lang="en-US" sz="1200" dirty="0"/>
          </a:p>
          <a:p>
            <a:pPr indent="0" marL="0">
              <a:buNone/>
            </a:pPr>
            <a:r>
              <a:rPr lang="en-US" sz="1500" dirty="0">
                <a:solidFill>
                  <a:srgbClr val="FFFFFF"/>
                </a:solidFill>
                <a:latin typeface="Calibri" pitchFamily="34" charset="0"/>
                <a:ea typeface="Calibri" pitchFamily="34" charset="-122"/>
                <a:cs typeface="Calibri" pitchFamily="34" charset="-120"/>
              </a:rPr>
              <a:t>Volunteer, Huai'an Marathon</a:t>
            </a:r>
            <a:endParaRPr lang="en-US" sz="1200" dirty="0"/>
          </a:p>
        </p:txBody>
      </p:sp>
      <p:sp>
        <p:nvSpPr>
          <p:cNvPr id="27" name="Event card"/>
          <p:cNvSpPr/>
          <p:nvPr/>
        </p:nvSpPr>
        <p:spPr>
          <a:xfrm>
            <a:off x="3383280" y="4892040"/>
            <a:ext cx="2606040" cy="1234440"/>
          </a:xfrm>
          <a:prstGeom prst="roundRect">
            <a:avLst>
              <a:gd name="adj" fmla="val 7407"/>
            </a:avLst>
          </a:prstGeom>
          <a:solidFill>
            <a:srgbClr val="221C18"/>
          </a:solidFill>
          <a:ln w="9525">
            <a:solidFill>
              <a:srgbClr val="3A312A"/>
            </a:solidFill>
            <a:prstDash val="solid"/>
          </a:ln>
        </p:spPr>
      </p:sp>
      <p:sp>
        <p:nvSpPr>
          <p:cNvPr id="28" name="Text 25"/>
          <p:cNvSpPr txBox="1"/>
          <p:nvPr/>
        </p:nvSpPr>
        <p:spPr>
          <a:xfrm>
            <a:off x="3566160" y="4892040"/>
            <a:ext cx="2240280" cy="1234440"/>
          </a:xfrm>
          <a:prstGeom prst="rect">
            <a:avLst/>
          </a:prstGeom>
          <a:noFill/>
          <a:ln/>
        </p:spPr>
        <p:txBody>
          <a:bodyPr wrap="square" lIns="0" tIns="0" rIns="0" bIns="0" rtlCol="0" anchor="ctr"/>
          <a:lstStyle/>
          <a:p>
            <a:pPr indent="0" marL="0">
              <a:buNone/>
            </a:pPr>
            <a:r>
              <a:rPr lang="en-US" sz="1200" b="1" spc="200" kern="0" dirty="0">
                <a:solidFill>
                  <a:srgbClr val="E0B25A"/>
                </a:solidFill>
                <a:latin typeface="Calibri" pitchFamily="34" charset="0"/>
                <a:ea typeface="Calibri" pitchFamily="34" charset="-122"/>
                <a:cs typeface="Calibri" pitchFamily="34" charset="-120"/>
              </a:rPr>
              <a:t>9 MAY</a:t>
            </a:r>
            <a:endParaRPr lang="en-US" sz="1200" dirty="0"/>
          </a:p>
          <a:p>
            <a:pPr indent="0" marL="0">
              <a:buNone/>
            </a:pPr>
            <a:r>
              <a:rPr lang="en-US" sz="1500" dirty="0">
                <a:solidFill>
                  <a:srgbClr val="FFFFFF"/>
                </a:solidFill>
                <a:latin typeface="Calibri" pitchFamily="34" charset="0"/>
                <a:ea typeface="Calibri" pitchFamily="34" charset="-122"/>
                <a:cs typeface="Calibri" pitchFamily="34" charset="-120"/>
              </a:rPr>
              <a:t>Calligraphy class at SIE</a:t>
            </a:r>
            <a:endParaRPr lang="en-US" sz="1200" dirty="0"/>
          </a:p>
        </p:txBody>
      </p:sp>
      <p:sp>
        <p:nvSpPr>
          <p:cNvPr id="29" name="Event card"/>
          <p:cNvSpPr/>
          <p:nvPr/>
        </p:nvSpPr>
        <p:spPr>
          <a:xfrm>
            <a:off x="6217920" y="4892040"/>
            <a:ext cx="2606040" cy="1234440"/>
          </a:xfrm>
          <a:prstGeom prst="roundRect">
            <a:avLst>
              <a:gd name="adj" fmla="val 7407"/>
            </a:avLst>
          </a:prstGeom>
          <a:solidFill>
            <a:srgbClr val="C8322B"/>
          </a:solidFill>
          <a:ln w="9525">
            <a:solidFill>
              <a:srgbClr val="C8322B"/>
            </a:solidFill>
            <a:prstDash val="solid"/>
          </a:ln>
        </p:spPr>
      </p:sp>
      <p:sp>
        <p:nvSpPr>
          <p:cNvPr id="30" name="Text 27"/>
          <p:cNvSpPr txBox="1"/>
          <p:nvPr/>
        </p:nvSpPr>
        <p:spPr>
          <a:xfrm>
            <a:off x="6400800" y="4892040"/>
            <a:ext cx="2240280" cy="1234440"/>
          </a:xfrm>
          <a:prstGeom prst="rect">
            <a:avLst/>
          </a:prstGeom>
          <a:noFill/>
          <a:ln/>
        </p:spPr>
        <p:txBody>
          <a:bodyPr wrap="square" lIns="0" tIns="0" rIns="0" bIns="0" rtlCol="0" anchor="ctr"/>
          <a:lstStyle/>
          <a:p>
            <a:pPr indent="0" marL="0">
              <a:buNone/>
            </a:pPr>
            <a:r>
              <a:rPr lang="en-US" sz="1200" b="1" spc="200" kern="0" dirty="0">
                <a:solidFill>
                  <a:srgbClr val="FFE9D6"/>
                </a:solidFill>
                <a:latin typeface="Calibri" pitchFamily="34" charset="0"/>
                <a:ea typeface="Calibri" pitchFamily="34" charset="-122"/>
                <a:cs typeface="Calibri" pitchFamily="34" charset="-120"/>
              </a:rPr>
              <a:t>16 MAY</a:t>
            </a:r>
            <a:endParaRPr lang="en-US" sz="1200" dirty="0"/>
          </a:p>
          <a:p>
            <a:pPr indent="0" marL="0">
              <a:buNone/>
            </a:pPr>
            <a:r>
              <a:rPr lang="en-US" sz="1500" dirty="0">
                <a:solidFill>
                  <a:srgbClr val="FFFFFF"/>
                </a:solidFill>
                <a:latin typeface="Calibri" pitchFamily="34" charset="0"/>
                <a:ea typeface="Calibri" pitchFamily="34" charset="-122"/>
                <a:cs typeface="Calibri" pitchFamily="34" charset="-120"/>
              </a:rPr>
              <a:t>Passed HSK 3 · 250 / 300</a:t>
            </a:r>
            <a:endParaRPr lang="en-US" sz="1200" dirty="0"/>
          </a:p>
        </p:txBody>
      </p:sp>
      <p:sp>
        <p:nvSpPr>
          <p:cNvPr id="31" name="Event card"/>
          <p:cNvSpPr/>
          <p:nvPr/>
        </p:nvSpPr>
        <p:spPr>
          <a:xfrm>
            <a:off x="9052560" y="4892040"/>
            <a:ext cx="2606040" cy="1234440"/>
          </a:xfrm>
          <a:prstGeom prst="roundRect">
            <a:avLst>
              <a:gd name="adj" fmla="val 7407"/>
            </a:avLst>
          </a:prstGeom>
          <a:solidFill>
            <a:srgbClr val="C8322B"/>
          </a:solidFill>
          <a:ln w="9525">
            <a:solidFill>
              <a:srgbClr val="C8322B"/>
            </a:solidFill>
            <a:prstDash val="solid"/>
          </a:ln>
        </p:spPr>
      </p:sp>
      <p:sp>
        <p:nvSpPr>
          <p:cNvPr id="32" name="Text 29"/>
          <p:cNvSpPr txBox="1"/>
          <p:nvPr/>
        </p:nvSpPr>
        <p:spPr>
          <a:xfrm>
            <a:off x="9235440" y="4892040"/>
            <a:ext cx="2240280" cy="1234440"/>
          </a:xfrm>
          <a:prstGeom prst="rect">
            <a:avLst/>
          </a:prstGeom>
          <a:noFill/>
          <a:ln/>
        </p:spPr>
        <p:txBody>
          <a:bodyPr wrap="square" lIns="0" tIns="0" rIns="0" bIns="0" rtlCol="0" anchor="ctr"/>
          <a:lstStyle/>
          <a:p>
            <a:pPr indent="0" marL="0">
              <a:buNone/>
            </a:pPr>
            <a:r>
              <a:rPr lang="en-US" sz="1200" b="1" spc="200" kern="0" dirty="0">
                <a:solidFill>
                  <a:srgbClr val="FFE9D6"/>
                </a:solidFill>
                <a:latin typeface="Calibri" pitchFamily="34" charset="0"/>
                <a:ea typeface="Calibri" pitchFamily="34" charset="-122"/>
                <a:cs typeface="Calibri" pitchFamily="34" charset="-120"/>
              </a:rPr>
              <a:t>2026</a:t>
            </a:r>
            <a:endParaRPr lang="en-US" sz="1200" dirty="0"/>
          </a:p>
          <a:p>
            <a:pPr indent="0" marL="0">
              <a:buNone/>
            </a:pPr>
            <a:r>
              <a:rPr lang="en-US" sz="1500" dirty="0">
                <a:solidFill>
                  <a:srgbClr val="FFFFFF"/>
                </a:solidFill>
                <a:latin typeface="Calibri" pitchFamily="34" charset="0"/>
                <a:ea typeface="Calibri" pitchFamily="34" charset="-122"/>
                <a:cs typeface="Calibri" pitchFamily="34" charset="-120"/>
              </a:rPr>
              <a:t>Admission-day helper · Service Award</a:t>
            </a:r>
            <a:endParaRPr lang="en-US" sz="12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10F"/>
        </a:solidFill>
      </p:bgPr>
    </p:bg>
    <p:spTree>
      <p:nvGrpSpPr>
        <p:cNvPr id="1" name=""/>
        <p:cNvGrpSpPr/>
        <p:nvPr/>
      </p:nvGrpSpPr>
      <p:grpSpPr>
        <a:xfrm>
          <a:off x="0" y="0"/>
          <a:ext cx="0" cy="0"/>
          <a:chOff x="0" y="0"/>
          <a:chExt cx="0" cy="0"/>
        </a:xfrm>
      </p:grpSpPr>
      <p:sp>
        <p:nvSpPr>
          <p:cNvPr id="2" name="Seal"/>
          <p:cNvSpPr/>
          <p:nvPr/>
        </p:nvSpPr>
        <p:spPr>
          <a:xfrm>
            <a:off x="548640" y="457200"/>
            <a:ext cx="566928" cy="566928"/>
          </a:xfrm>
          <a:prstGeom prst="roundRect">
            <a:avLst>
              <a:gd name="adj" fmla="val 9677"/>
            </a:avLst>
          </a:prstGeom>
          <a:solidFill>
            <a:srgbClr val="C8322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356" b="1" dirty="0">
                <a:solidFill>
                  <a:srgbClr val="FFFFFF"/>
                </a:solidFill>
                <a:latin typeface="Microsoft YaHei" pitchFamily="34" charset="0"/>
                <a:ea typeface="Microsoft YaHei" pitchFamily="34" charset="-122"/>
                <a:cs typeface="Microsoft YaHei" pitchFamily="34" charset="-120"/>
              </a:rPr>
              <a:t>谢</a:t>
            </a:r>
            <a:endParaRPr lang="en-US" sz="2356" dirty="0"/>
          </a:p>
        </p:txBody>
      </p:sp>
      <p:sp>
        <p:nvSpPr>
          <p:cNvPr id="4" name="Text 2"/>
          <p:cNvSpPr txBox="1"/>
          <p:nvPr/>
        </p:nvSpPr>
        <p:spPr>
          <a:xfrm>
            <a:off x="1280160" y="457200"/>
            <a:ext cx="7315200" cy="566928"/>
          </a:xfrm>
          <a:prstGeom prst="rect">
            <a:avLst/>
          </a:prstGeom>
          <a:noFill/>
          <a:ln/>
        </p:spPr>
        <p:txBody>
          <a:bodyPr wrap="square" lIns="0" tIns="0" rIns="0" bIns="0" rtlCol="0" anchor="ctr"/>
          <a:lstStyle/>
          <a:p>
            <a:pPr indent="0" marL="0">
              <a:buNone/>
            </a:pPr>
            <a:r>
              <a:rPr lang="en-US" sz="1300" b="1" spc="300" kern="0" dirty="0">
                <a:solidFill>
                  <a:srgbClr val="E0B25A"/>
                </a:solidFill>
                <a:latin typeface="Calibri" pitchFamily="34" charset="0"/>
                <a:ea typeface="Calibri" pitchFamily="34" charset="-122"/>
                <a:cs typeface="Calibri" pitchFamily="34" charset="-120"/>
              </a:rPr>
              <a:t>WHY CATEGORY A</a:t>
            </a:r>
            <a:endParaRPr lang="en-US" sz="1300" dirty="0"/>
          </a:p>
        </p:txBody>
      </p:sp>
      <p:sp>
        <p:nvSpPr>
          <p:cNvPr id="5" name="Text 3"/>
          <p:cNvSpPr txBox="1"/>
          <p:nvPr/>
        </p:nvSpPr>
        <p:spPr>
          <a:xfrm>
            <a:off x="548640" y="1051560"/>
            <a:ext cx="11094415" cy="1371600"/>
          </a:xfrm>
          <a:prstGeom prst="rect">
            <a:avLst/>
          </a:prstGeom>
          <a:noFill/>
          <a:ln/>
        </p:spPr>
        <p:txBody>
          <a:bodyPr wrap="square" lIns="0" tIns="0" rIns="0" bIns="0" rtlCol="0" anchor="ctr"/>
          <a:lstStyle/>
          <a:p>
            <a:pPr indent="0" marL="0">
              <a:buNone/>
            </a:pPr>
            <a:r>
              <a:rPr lang="en-US" sz="8000" b="1" dirty="0">
                <a:solidFill>
                  <a:srgbClr val="E0B25A"/>
                </a:solidFill>
                <a:latin typeface="Microsoft YaHei" pitchFamily="34" charset="0"/>
                <a:ea typeface="Microsoft YaHei" pitchFamily="34" charset="-122"/>
                <a:cs typeface="Microsoft YaHei" pitchFamily="34" charset="-120"/>
              </a:rPr>
              <a:t>自强不息</a:t>
            </a:r>
            <a:endParaRPr lang="en-US" sz="8000" dirty="0"/>
          </a:p>
        </p:txBody>
      </p:sp>
      <p:sp>
        <p:nvSpPr>
          <p:cNvPr id="6" name="Text 4"/>
          <p:cNvSpPr txBox="1"/>
          <p:nvPr/>
        </p:nvSpPr>
        <p:spPr>
          <a:xfrm>
            <a:off x="548640" y="2423160"/>
            <a:ext cx="8229600" cy="640080"/>
          </a:xfrm>
          <a:prstGeom prst="rect">
            <a:avLst/>
          </a:prstGeom>
          <a:noFill/>
          <a:ln/>
        </p:spPr>
        <p:txBody>
          <a:bodyPr wrap="square" lIns="0" tIns="0" rIns="0" bIns="0" rtlCol="0" anchor="ctr"/>
          <a:lstStyle/>
          <a:p>
            <a:pPr indent="0" marL="0">
              <a:buNone/>
            </a:pPr>
            <a:r>
              <a:rPr lang="en-US" sz="3400" b="1" dirty="0">
                <a:solidFill>
                  <a:srgbClr val="F7F1E8"/>
                </a:solidFill>
                <a:latin typeface="Cambria" pitchFamily="34" charset="0"/>
                <a:ea typeface="Cambria" pitchFamily="34" charset="-122"/>
                <a:cs typeface="Cambria" pitchFamily="34" charset="-120"/>
              </a:rPr>
              <a:t>I will keep striving.</a:t>
            </a:r>
            <a:endParaRPr lang="en-US" sz="3400" dirty="0"/>
          </a:p>
        </p:txBody>
      </p:sp>
      <p:sp>
        <p:nvSpPr>
          <p:cNvPr id="7" name="Card"/>
          <p:cNvSpPr/>
          <p:nvPr/>
        </p:nvSpPr>
        <p:spPr>
          <a:xfrm>
            <a:off x="548640" y="3429000"/>
            <a:ext cx="3520440" cy="2240280"/>
          </a:xfrm>
          <a:prstGeom prst="roundRect">
            <a:avLst>
              <a:gd name="adj" fmla="val 4898"/>
            </a:avLst>
          </a:prstGeom>
          <a:solidFill>
            <a:srgbClr val="221C18"/>
          </a:solidFill>
          <a:ln w="9525">
            <a:solidFill>
              <a:srgbClr val="3A312A"/>
            </a:solidFill>
            <a:prstDash val="solid"/>
          </a:ln>
        </p:spPr>
      </p:sp>
      <p:sp>
        <p:nvSpPr>
          <p:cNvPr id="8" name="Seal"/>
          <p:cNvSpPr/>
          <p:nvPr/>
        </p:nvSpPr>
        <p:spPr>
          <a:xfrm>
            <a:off x="822960" y="3657600"/>
            <a:ext cx="548640" cy="548640"/>
          </a:xfrm>
          <a:prstGeom prst="roundRect">
            <a:avLst>
              <a:gd name="adj" fmla="val 10000"/>
            </a:avLst>
          </a:prstGeom>
          <a:solidFill>
            <a:srgbClr val="C8322B"/>
          </a:solidFill>
          <a:ln/>
        </p:spPr>
      </p:sp>
      <p:sp>
        <p:nvSpPr>
          <p:cNvPr id="9" name="Text 7"/>
          <p:cNvSpPr txBox="1"/>
          <p:nvPr/>
        </p:nvSpPr>
        <p:spPr>
          <a:xfrm>
            <a:off x="822960" y="3657600"/>
            <a:ext cx="548640" cy="548640"/>
          </a:xfrm>
          <a:prstGeom prst="rect">
            <a:avLst/>
          </a:prstGeom>
          <a:noFill/>
          <a:ln/>
        </p:spPr>
        <p:txBody>
          <a:bodyPr wrap="square" lIns="0" tIns="0" rIns="0" bIns="0" rtlCol="0" anchor="ctr"/>
          <a:lstStyle/>
          <a:p>
            <a:pPr algn="ctr" indent="0" marL="0">
              <a:buNone/>
            </a:pPr>
            <a:r>
              <a:rPr lang="en-US" sz="2280" b="1" dirty="0">
                <a:solidFill>
                  <a:srgbClr val="FFFFFF"/>
                </a:solidFill>
                <a:latin typeface="Microsoft YaHei" pitchFamily="34" charset="0"/>
                <a:ea typeface="Microsoft YaHei" pitchFamily="34" charset="-122"/>
                <a:cs typeface="Microsoft YaHei" pitchFamily="34" charset="-120"/>
              </a:rPr>
              <a:t>学</a:t>
            </a:r>
            <a:endParaRPr lang="en-US" sz="2280" dirty="0"/>
          </a:p>
        </p:txBody>
      </p:sp>
      <p:sp>
        <p:nvSpPr>
          <p:cNvPr id="10" name="Text 8"/>
          <p:cNvSpPr txBox="1"/>
          <p:nvPr/>
        </p:nvSpPr>
        <p:spPr>
          <a:xfrm>
            <a:off x="1508760" y="3657600"/>
            <a:ext cx="2377440" cy="548640"/>
          </a:xfrm>
          <a:prstGeom prst="rect">
            <a:avLst/>
          </a:prstGeom>
          <a:noFill/>
          <a:ln/>
        </p:spPr>
        <p:txBody>
          <a:bodyPr wrap="square" lIns="0" tIns="0" rIns="0" bIns="0" rtlCol="0" anchor="ctr"/>
          <a:lstStyle/>
          <a:p>
            <a:pPr indent="0" marL="0">
              <a:buNone/>
            </a:pPr>
            <a:r>
              <a:rPr lang="en-US" sz="2100" b="1" dirty="0">
                <a:solidFill>
                  <a:srgbClr val="F7F1E8"/>
                </a:solidFill>
                <a:latin typeface="Cambria" pitchFamily="34" charset="0"/>
                <a:ea typeface="Cambria" pitchFamily="34" charset="-122"/>
                <a:cs typeface="Cambria" pitchFamily="34" charset="-120"/>
              </a:rPr>
              <a:t>A scholar</a:t>
            </a:r>
            <a:endParaRPr lang="en-US" sz="2100" dirty="0"/>
          </a:p>
        </p:txBody>
      </p:sp>
      <p:sp>
        <p:nvSpPr>
          <p:cNvPr id="11" name="Text 9"/>
          <p:cNvSpPr txBox="1"/>
          <p:nvPr/>
        </p:nvSpPr>
        <p:spPr>
          <a:xfrm>
            <a:off x="822960" y="4389120"/>
            <a:ext cx="3017520" cy="1188720"/>
          </a:xfrm>
          <a:prstGeom prst="rect">
            <a:avLst/>
          </a:prstGeom>
          <a:noFill/>
          <a:ln/>
        </p:spPr>
        <p:txBody>
          <a:bodyPr wrap="square" lIns="0" tIns="0" rIns="0" bIns="0" rtlCol="0" anchor="t"/>
          <a:lstStyle/>
          <a:p>
            <a:pPr indent="0" marL="0">
              <a:buNone/>
            </a:pPr>
            <a:r>
              <a:rPr lang="en-US" sz="1400" dirty="0">
                <a:solidFill>
                  <a:srgbClr val="B9AEA0"/>
                </a:solidFill>
                <a:latin typeface="Calibri" pitchFamily="34" charset="0"/>
                <a:ea typeface="Calibri" pitchFamily="34" charset="-122"/>
                <a:cs typeface="Calibri" pitchFamily="34" charset="-120"/>
              </a:rPr>
              <a:t>Highest marks in my major's department · HSK 3, 250 / 300, within a year</a:t>
            </a:r>
            <a:endParaRPr lang="en-US" sz="1400" dirty="0"/>
          </a:p>
        </p:txBody>
      </p:sp>
      <p:sp>
        <p:nvSpPr>
          <p:cNvPr id="12" name="Card"/>
          <p:cNvSpPr/>
          <p:nvPr/>
        </p:nvSpPr>
        <p:spPr>
          <a:xfrm>
            <a:off x="4361688" y="3429000"/>
            <a:ext cx="3520440" cy="2240280"/>
          </a:xfrm>
          <a:prstGeom prst="roundRect">
            <a:avLst>
              <a:gd name="adj" fmla="val 4898"/>
            </a:avLst>
          </a:prstGeom>
          <a:solidFill>
            <a:srgbClr val="221C18"/>
          </a:solidFill>
          <a:ln w="9525">
            <a:solidFill>
              <a:srgbClr val="3A312A"/>
            </a:solidFill>
            <a:prstDash val="solid"/>
          </a:ln>
        </p:spPr>
      </p:sp>
      <p:sp>
        <p:nvSpPr>
          <p:cNvPr id="13" name="Seal"/>
          <p:cNvSpPr/>
          <p:nvPr/>
        </p:nvSpPr>
        <p:spPr>
          <a:xfrm>
            <a:off x="4636008" y="3657600"/>
            <a:ext cx="548640" cy="548640"/>
          </a:xfrm>
          <a:prstGeom prst="roundRect">
            <a:avLst>
              <a:gd name="adj" fmla="val 10000"/>
            </a:avLst>
          </a:prstGeom>
          <a:solidFill>
            <a:srgbClr val="C8322B"/>
          </a:solidFill>
          <a:ln/>
        </p:spPr>
      </p:sp>
      <p:sp>
        <p:nvSpPr>
          <p:cNvPr id="14" name="Text 12"/>
          <p:cNvSpPr txBox="1"/>
          <p:nvPr/>
        </p:nvSpPr>
        <p:spPr>
          <a:xfrm>
            <a:off x="4636008" y="3657600"/>
            <a:ext cx="548640" cy="548640"/>
          </a:xfrm>
          <a:prstGeom prst="rect">
            <a:avLst/>
          </a:prstGeom>
          <a:noFill/>
          <a:ln/>
        </p:spPr>
        <p:txBody>
          <a:bodyPr wrap="square" lIns="0" tIns="0" rIns="0" bIns="0" rtlCol="0" anchor="ctr"/>
          <a:lstStyle/>
          <a:p>
            <a:pPr algn="ctr" indent="0" marL="0">
              <a:buNone/>
            </a:pPr>
            <a:r>
              <a:rPr lang="en-US" sz="2280" b="1" dirty="0">
                <a:solidFill>
                  <a:srgbClr val="FFFFFF"/>
                </a:solidFill>
                <a:latin typeface="Microsoft YaHei" pitchFamily="34" charset="0"/>
                <a:ea typeface="Microsoft YaHei" pitchFamily="34" charset="-122"/>
                <a:cs typeface="Microsoft YaHei" pitchFamily="34" charset="-120"/>
              </a:rPr>
              <a:t>艺</a:t>
            </a:r>
            <a:endParaRPr lang="en-US" sz="2280" dirty="0"/>
          </a:p>
        </p:txBody>
      </p:sp>
      <p:sp>
        <p:nvSpPr>
          <p:cNvPr id="15" name="Text 13"/>
          <p:cNvSpPr txBox="1"/>
          <p:nvPr/>
        </p:nvSpPr>
        <p:spPr>
          <a:xfrm>
            <a:off x="5321808" y="3657600"/>
            <a:ext cx="2377440" cy="548640"/>
          </a:xfrm>
          <a:prstGeom prst="rect">
            <a:avLst/>
          </a:prstGeom>
          <a:noFill/>
          <a:ln/>
        </p:spPr>
        <p:txBody>
          <a:bodyPr wrap="square" lIns="0" tIns="0" rIns="0" bIns="0" rtlCol="0" anchor="ctr"/>
          <a:lstStyle/>
          <a:p>
            <a:pPr indent="0" marL="0">
              <a:buNone/>
            </a:pPr>
            <a:r>
              <a:rPr lang="en-US" sz="2100" b="1" dirty="0">
                <a:solidFill>
                  <a:srgbClr val="F7F1E8"/>
                </a:solidFill>
                <a:latin typeface="Cambria" pitchFamily="34" charset="0"/>
                <a:ea typeface="Cambria" pitchFamily="34" charset="-122"/>
                <a:cs typeface="Cambria" pitchFamily="34" charset="-120"/>
              </a:rPr>
              <a:t>An artist</a:t>
            </a:r>
            <a:endParaRPr lang="en-US" sz="2100" dirty="0"/>
          </a:p>
        </p:txBody>
      </p:sp>
      <p:sp>
        <p:nvSpPr>
          <p:cNvPr id="16" name="Text 14"/>
          <p:cNvSpPr txBox="1"/>
          <p:nvPr/>
        </p:nvSpPr>
        <p:spPr>
          <a:xfrm>
            <a:off x="4636008" y="4389120"/>
            <a:ext cx="3017520" cy="1188720"/>
          </a:xfrm>
          <a:prstGeom prst="rect">
            <a:avLst/>
          </a:prstGeom>
          <a:noFill/>
          <a:ln/>
        </p:spPr>
        <p:txBody>
          <a:bodyPr wrap="square" lIns="0" tIns="0" rIns="0" bIns="0" rtlCol="0" anchor="t"/>
          <a:lstStyle/>
          <a:p>
            <a:pPr indent="0" marL="0">
              <a:buNone/>
            </a:pPr>
            <a:r>
              <a:rPr lang="en-US" sz="1400" dirty="0">
                <a:solidFill>
                  <a:srgbClr val="B9AEA0"/>
                </a:solidFill>
                <a:latin typeface="Calibri" pitchFamily="34" charset="0"/>
                <a:ea typeface="Calibri" pitchFamily="34" charset="-122"/>
                <a:cs typeface="Calibri" pitchFamily="34" charset="-120"/>
              </a:rPr>
              <a:t>Provincial award for Excellent Calligraphy Work · original research under review</a:t>
            </a:r>
            <a:endParaRPr lang="en-US" sz="1400" dirty="0"/>
          </a:p>
        </p:txBody>
      </p:sp>
      <p:sp>
        <p:nvSpPr>
          <p:cNvPr id="17" name="Card"/>
          <p:cNvSpPr/>
          <p:nvPr/>
        </p:nvSpPr>
        <p:spPr>
          <a:xfrm>
            <a:off x="8174736" y="3429000"/>
            <a:ext cx="3520440" cy="2240280"/>
          </a:xfrm>
          <a:prstGeom prst="roundRect">
            <a:avLst>
              <a:gd name="adj" fmla="val 4898"/>
            </a:avLst>
          </a:prstGeom>
          <a:solidFill>
            <a:srgbClr val="221C18"/>
          </a:solidFill>
          <a:ln w="9525">
            <a:solidFill>
              <a:srgbClr val="3A312A"/>
            </a:solidFill>
            <a:prstDash val="solid"/>
          </a:ln>
        </p:spPr>
      </p:sp>
      <p:sp>
        <p:nvSpPr>
          <p:cNvPr id="18" name="Seal"/>
          <p:cNvSpPr/>
          <p:nvPr/>
        </p:nvSpPr>
        <p:spPr>
          <a:xfrm>
            <a:off x="8449056" y="3657600"/>
            <a:ext cx="548640" cy="548640"/>
          </a:xfrm>
          <a:prstGeom prst="roundRect">
            <a:avLst>
              <a:gd name="adj" fmla="val 10000"/>
            </a:avLst>
          </a:prstGeom>
          <a:solidFill>
            <a:srgbClr val="C8322B"/>
          </a:solidFill>
          <a:ln/>
        </p:spPr>
      </p:sp>
      <p:sp>
        <p:nvSpPr>
          <p:cNvPr id="19" name="Text 17"/>
          <p:cNvSpPr txBox="1"/>
          <p:nvPr/>
        </p:nvSpPr>
        <p:spPr>
          <a:xfrm>
            <a:off x="8449056" y="3657600"/>
            <a:ext cx="548640" cy="548640"/>
          </a:xfrm>
          <a:prstGeom prst="rect">
            <a:avLst/>
          </a:prstGeom>
          <a:noFill/>
          <a:ln/>
        </p:spPr>
        <p:txBody>
          <a:bodyPr wrap="square" lIns="0" tIns="0" rIns="0" bIns="0" rtlCol="0" anchor="ctr"/>
          <a:lstStyle/>
          <a:p>
            <a:pPr algn="ctr" indent="0" marL="0">
              <a:buNone/>
            </a:pPr>
            <a:r>
              <a:rPr lang="en-US" sz="2280" b="1" dirty="0">
                <a:solidFill>
                  <a:srgbClr val="FFFFFF"/>
                </a:solidFill>
                <a:latin typeface="Microsoft YaHei" pitchFamily="34" charset="0"/>
                <a:ea typeface="Microsoft YaHei" pitchFamily="34" charset="-122"/>
                <a:cs typeface="Microsoft YaHei" pitchFamily="34" charset="-120"/>
              </a:rPr>
              <a:t>行</a:t>
            </a:r>
            <a:endParaRPr lang="en-US" sz="2280" dirty="0"/>
          </a:p>
        </p:txBody>
      </p:sp>
      <p:sp>
        <p:nvSpPr>
          <p:cNvPr id="20" name="Text 18"/>
          <p:cNvSpPr txBox="1"/>
          <p:nvPr/>
        </p:nvSpPr>
        <p:spPr>
          <a:xfrm>
            <a:off x="9134856" y="3657600"/>
            <a:ext cx="2377440" cy="548640"/>
          </a:xfrm>
          <a:prstGeom prst="rect">
            <a:avLst/>
          </a:prstGeom>
          <a:noFill/>
          <a:ln/>
        </p:spPr>
        <p:txBody>
          <a:bodyPr wrap="square" lIns="0" tIns="0" rIns="0" bIns="0" rtlCol="0" anchor="ctr"/>
          <a:lstStyle/>
          <a:p>
            <a:pPr indent="0" marL="0">
              <a:buNone/>
            </a:pPr>
            <a:r>
              <a:rPr lang="en-US" sz="2100" b="1" dirty="0">
                <a:solidFill>
                  <a:srgbClr val="F7F1E8"/>
                </a:solidFill>
                <a:latin typeface="Cambria" pitchFamily="34" charset="0"/>
                <a:ea typeface="Cambria" pitchFamily="34" charset="-122"/>
                <a:cs typeface="Cambria" pitchFamily="34" charset="-120"/>
              </a:rPr>
              <a:t>A host and helper</a:t>
            </a:r>
            <a:endParaRPr lang="en-US" sz="2100" dirty="0"/>
          </a:p>
        </p:txBody>
      </p:sp>
      <p:sp>
        <p:nvSpPr>
          <p:cNvPr id="21" name="Text 19"/>
          <p:cNvSpPr txBox="1"/>
          <p:nvPr/>
        </p:nvSpPr>
        <p:spPr>
          <a:xfrm>
            <a:off x="8449056" y="4389120"/>
            <a:ext cx="3017520" cy="1188720"/>
          </a:xfrm>
          <a:prstGeom prst="rect">
            <a:avLst/>
          </a:prstGeom>
          <a:noFill/>
          <a:ln/>
        </p:spPr>
        <p:txBody>
          <a:bodyPr wrap="square" lIns="0" tIns="0" rIns="0" bIns="0" rtlCol="0" anchor="t"/>
          <a:lstStyle/>
          <a:p>
            <a:pPr indent="0" marL="0">
              <a:buNone/>
            </a:pPr>
            <a:r>
              <a:rPr lang="en-US" sz="1400" dirty="0">
                <a:solidFill>
                  <a:srgbClr val="B9AEA0"/>
                </a:solidFill>
                <a:latin typeface="Calibri" pitchFamily="34" charset="0"/>
                <a:ea typeface="Calibri" pitchFamily="34" charset="-122"/>
                <a:cs typeface="Calibri" pitchFamily="34" charset="-120"/>
              </a:rPr>
              <a:t>Hosted Chinese events · Service Award for assisting SIE · class monitor and volunteer</a:t>
            </a:r>
            <a:endParaRPr lang="en-US" sz="1400" dirty="0"/>
          </a:p>
        </p:txBody>
      </p:sp>
      <p:sp>
        <p:nvSpPr>
          <p:cNvPr id="22" name="Text 20"/>
          <p:cNvSpPr txBox="1"/>
          <p:nvPr/>
        </p:nvSpPr>
        <p:spPr>
          <a:xfrm>
            <a:off x="548640" y="5897880"/>
            <a:ext cx="7315200" cy="457200"/>
          </a:xfrm>
          <a:prstGeom prst="rect">
            <a:avLst/>
          </a:prstGeom>
          <a:noFill/>
          <a:ln/>
        </p:spPr>
        <p:txBody>
          <a:bodyPr wrap="square" lIns="0" tIns="0" rIns="0" bIns="0" rtlCol="0" anchor="ctr"/>
          <a:lstStyle/>
          <a:p>
            <a:pPr indent="0" marL="0">
              <a:buNone/>
            </a:pPr>
            <a:r>
              <a:rPr lang="en-US" sz="2400" b="1" dirty="0">
                <a:solidFill>
                  <a:srgbClr val="F7F1E8"/>
                </a:solidFill>
                <a:latin typeface="Cambria" pitchFamily="34" charset="0"/>
                <a:ea typeface="Cambria" pitchFamily="34" charset="-122"/>
                <a:cs typeface="Cambria" pitchFamily="34" charset="-120"/>
              </a:rPr>
              <a:t>谢谢各位老师  ·  Thank you</a:t>
            </a:r>
            <a:endParaRPr lang="en-US" sz="2400" dirty="0"/>
          </a:p>
        </p:txBody>
      </p:sp>
      <p:sp>
        <p:nvSpPr>
          <p:cNvPr id="23" name="Text 21"/>
          <p:cNvSpPr txBox="1"/>
          <p:nvPr/>
        </p:nvSpPr>
        <p:spPr>
          <a:xfrm>
            <a:off x="9814255" y="6400800"/>
            <a:ext cx="1828800" cy="274320"/>
          </a:xfrm>
          <a:prstGeom prst="rect">
            <a:avLst/>
          </a:prstGeom>
          <a:noFill/>
          <a:ln/>
        </p:spPr>
        <p:txBody>
          <a:bodyPr wrap="square" lIns="0" tIns="0" rIns="0" bIns="0" rtlCol="0" anchor="ctr"/>
          <a:lstStyle/>
          <a:p>
            <a:pPr algn="r" indent="0" marL="0">
              <a:buNone/>
            </a:pPr>
            <a:r>
              <a:rPr lang="en-US" sz="1000" dirty="0">
                <a:solidFill>
                  <a:srgbClr val="B9AEA0"/>
                </a:solidFill>
                <a:latin typeface="Calibri" pitchFamily="34" charset="0"/>
                <a:ea typeface="Calibri" pitchFamily="34" charset="-122"/>
                <a:cs typeface="Calibri" pitchFamily="34" charset="-120"/>
              </a:rPr>
              <a:t>11 / 11</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Huai'an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Jiangsu Provincial Scholarship Defense – Jubair Md Ariful Islam</dc:title>
  <dc:subject>PptxGenJS Presentation</dc:subject>
  <dc:creator>Jubair Md Ariful Islam (王子)</dc:creator>
  <cp:lastModifiedBy>Jubair Md Ariful Islam (王子)</cp:lastModifiedBy>
  <cp:revision>1</cp:revision>
  <dcterms:created xsi:type="dcterms:W3CDTF">2026-10-25T15:08:38Z</dcterms:created>
  <dcterms:modified xsi:type="dcterms:W3CDTF">2026-10-25T15:08:38Z</dcterms:modified>
</cp:coreProperties>
</file>